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Sample prep is the bottleneck: separating specimens from debris by size, by hand. Our system looks first, then decides which sieves to use. Bags in, barcodes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0:25-1:05. Six stages: observe, hypothesize, preflight, run, verify, hand off. Teal steps are software, orange steps move hardware. Each step is logged so a result can be traced back to the exact sample and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1:05-1:40. A USB camera with a printed scale marker measures every body in millimetres. YOLO and classical contours fail in different ways, so we only act on sizes both agree on. Disagreements are flagged instead of sieved blind.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1:40-2:10. Before anything reaches the arm, a digital twin of the bench checks that the sieve exists and is free, the order is coarse to fine, slots are open and there is enough water. If any check fails, nothing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2:10-3:00. Be honest: the sizing, planning, twin, provenance and handoff are built. Closing the loop on real hardware, measuring real apertures and training on bug analogs are next. Finish with your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6652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01F"/>
                </a:solidFill>
                <a:latin typeface="Helvetica" pitchFamily="34" charset="0"/>
                <a:ea typeface="Helvetica" pitchFamily="34" charset="-122"/>
                <a:cs typeface="Helvetic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74240"/>
            <a:ext cx="10566400" cy="3870960"/>
          </a:xfrm>
          <a:prstGeom prst="rect">
            <a:avLst/>
          </a:prstGeom>
          <a:noFill/>
          <a:ln/>
        </p:spPr>
        <p:txBody>
          <a:bodyPr wrap="square" lIns="0" tIns="0" rIns="0" bIns="0" rtlCol="0" anchor="t"/>
          <a:lstStyle>
            <a:lvl1pPr algn="l" indent="0" marL="0">
              <a:lnSpc>
                <a:spcPct val="140000"/>
              </a:lnSpc>
              <a:buNone/>
              <a:defRPr lang="en-US" sz="1600" dirty="0">
                <a:solidFill>
                  <a:srgbClr val="14201F"/>
                </a:solidFill>
                <a:latin typeface="Helvetica" pitchFamily="34" charset="0"/>
                <a:ea typeface="Helvetica" pitchFamily="34" charset="-122"/>
                <a:cs typeface="Helvetica"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66520"/>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201F"/>
                </a:solidFill>
                <a:latin typeface="Helvetica" pitchFamily="34" charset="0"/>
                <a:ea typeface="Helvetica" pitchFamily="34" charset="-122"/>
                <a:cs typeface="Helvetic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74240"/>
            <a:ext cx="10566400" cy="3870960"/>
          </a:xfrm>
          <a:prstGeom prst="rect">
            <a:avLst/>
          </a:prstGeom>
          <a:noFill/>
          <a:ln/>
        </p:spPr>
        <p:txBody>
          <a:bodyPr wrap="square" lIns="0" tIns="0" rIns="0" bIns="0" rtlCol="0" anchor="t"/>
          <a:lstStyle>
            <a:lvl1pPr algn="l" indent="0" marL="0">
              <a:lnSpc>
                <a:spcPct val="140000"/>
              </a:lnSpc>
              <a:buNone/>
              <a:defRPr lang="en-US" sz="1600" dirty="0">
                <a:solidFill>
                  <a:srgbClr val="14201F"/>
                </a:solidFill>
                <a:latin typeface="Helvetica" pitchFamily="34" charset="0"/>
                <a:ea typeface="Helvetica" pitchFamily="34" charset="-122"/>
                <a:cs typeface="Helvetica"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1F"/>
        </a:solidFill>
      </p:bgPr>
    </p:bg>
    <p:spTree>
      <p:nvGrpSpPr>
        <p:cNvPr id="1" name=""/>
        <p:cNvGrpSpPr/>
        <p:nvPr/>
      </p:nvGrpSpPr>
      <p:grpSpPr>
        <a:xfrm>
          <a:off x="0" y="0"/>
          <a:ext cx="0" cy="0"/>
          <a:chOff x="0" y="0"/>
          <a:chExt cx="0" cy="0"/>
        </a:xfrm>
      </p:grpSpPr>
      <p:sp>
        <p:nvSpPr>
          <p:cNvPr id="2" name="Text 0"/>
          <p:cNvSpPr/>
          <p:nvPr/>
        </p:nvSpPr>
        <p:spPr>
          <a:xfrm>
            <a:off x="812800" y="199263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5DCAA5"/>
                </a:solidFill>
                <a:latin typeface="Helvetica" pitchFamily="34" charset="0"/>
                <a:ea typeface="Helvetica" pitchFamily="34" charset="-122"/>
                <a:cs typeface="Helvetica" pitchFamily="34" charset="-120"/>
              </a:rPr>
              <a:t>Design intent and results</a:t>
            </a:r>
            <a:endParaRPr lang="en-US" sz="1500" dirty="0"/>
          </a:p>
        </p:txBody>
      </p:sp>
      <p:sp>
        <p:nvSpPr>
          <p:cNvPr id="3" name="Text 1"/>
          <p:cNvSpPr/>
          <p:nvPr>
            <p:ph type="title"/>
          </p:nvPr>
        </p:nvSpPr>
        <p:spPr>
          <a:xfrm>
            <a:off x="812800" y="2513330"/>
            <a:ext cx="6540500" cy="1412240"/>
          </a:xfrm>
          <a:prstGeom prst="rect">
            <a:avLst/>
          </a:prstGeom>
          <a:noFill/>
          <a:ln/>
        </p:spPr>
        <p:txBody>
          <a:bodyPr wrap="square" lIns="0" tIns="0" rIns="0" bIns="0" rtlCol="0" anchor="t">
            <a:normAutofit/>
          </a:bodyPr>
          <a:lstStyle/>
          <a:p>
            <a:pPr algn="l" indent="0" marL="0">
              <a:lnSpc>
                <a:spcPts val="5460"/>
              </a:lnSpc>
              <a:buNone/>
            </a:pPr>
            <a:r>
              <a:rPr lang="en-US" sz="5200" b="0" i="0" dirty="0">
                <a:solidFill>
                  <a:srgbClr val="F6F5F0"/>
                </a:solidFill>
                <a:latin typeface="Helvetica" pitchFamily="34" charset="0"/>
                <a:ea typeface="Helvetica" pitchFamily="34" charset="-122"/>
                <a:cs typeface="Helvetica" pitchFamily="34" charset="-120"/>
              </a:rPr>
              <a:t>Automated sieving robot</a:t>
            </a:r>
            <a:endParaRPr lang="en-US" sz="5200" dirty="0"/>
          </a:p>
        </p:txBody>
      </p:sp>
      <p:sp>
        <p:nvSpPr>
          <p:cNvPr id="4" name="Text 2"/>
          <p:cNvSpPr/>
          <p:nvPr/>
        </p:nvSpPr>
        <p:spPr>
          <a:xfrm>
            <a:off x="812800" y="4154170"/>
            <a:ext cx="6540500" cy="7366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4B9B6"/>
                </a:solidFill>
                <a:latin typeface="Helvetica" pitchFamily="34" charset="0"/>
                <a:ea typeface="Helvetica" pitchFamily="34" charset="-122"/>
                <a:cs typeface="Helvetica" pitchFamily="34" charset="-120"/>
              </a:rPr>
              <a:t>Camera-guided sorting of mixed samples with a robot arm</a:t>
            </a:r>
            <a:endParaRPr lang="en-US" sz="2000" dirty="0"/>
          </a:p>
        </p:txBody>
      </p:sp>
      <p:pic>
        <p:nvPicPr>
          <p:cNvPr id="5" name="Image 0" descr="Camera above a stack of three sieve trays with finer particles in lower trays">    </p:cNvPr>
          <p:cNvPicPr>
            <a:picLocks noChangeAspect="1"/>
          </p:cNvPicPr>
          <p:nvPr/>
        </p:nvPicPr>
        <p:blipFill>
          <a:blip r:embed="rId1"/>
          <a:srcRect l="0" r="0" t="0" b="0"/>
          <a:stretch/>
        </p:blipFill>
        <p:spPr>
          <a:xfrm>
            <a:off x="7823200" y="1473200"/>
            <a:ext cx="3556000" cy="391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6E56"/>
                </a:solidFill>
                <a:latin typeface="Helvetica" pitchFamily="34" charset="0"/>
                <a:ea typeface="Helvetica" pitchFamily="34" charset="-122"/>
                <a:cs typeface="Helvetica" pitchFamily="34" charset="-120"/>
              </a:rPr>
              <a:t>Design intent</a:t>
            </a:r>
            <a:endParaRPr lang="en-US" sz="1400" dirty="0"/>
          </a:p>
        </p:txBody>
      </p:sp>
      <p:sp>
        <p:nvSpPr>
          <p:cNvPr id="3" name="Text 1"/>
          <p:cNvSpPr/>
          <p:nvPr>
            <p:ph type="title"/>
          </p:nvPr>
        </p:nvSpPr>
        <p:spPr>
          <a:xfrm>
            <a:off x="812800" y="136652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Helvetica" pitchFamily="34" charset="0"/>
                <a:ea typeface="Helvetica" pitchFamily="34" charset="-122"/>
                <a:cs typeface="Helvetica" pitchFamily="34" charset="-120"/>
              </a:rPr>
              <a:t>Sort a mixed sample with no manual sieving</a:t>
            </a:r>
            <a:endParaRPr lang="en-US" sz="3600" dirty="0"/>
          </a:p>
        </p:txBody>
      </p:sp>
      <p:sp>
        <p:nvSpPr>
          <p:cNvPr id="4" name="Text 2"/>
          <p:cNvSpPr/>
          <p:nvPr/>
        </p:nvSpPr>
        <p:spPr>
          <a:xfrm>
            <a:off x="854710" y="2999740"/>
            <a:ext cx="7537450" cy="1447800"/>
          </a:xfrm>
          <a:prstGeom prst="rect">
            <a:avLst/>
          </a:prstGeom>
          <a:noFill/>
          <a:ln/>
        </p:spPr>
        <p:txBody>
          <a:bodyPr wrap="square" lIns="0" tIns="0" rIns="0" bIns="0" rtlCol="0" anchor="t">
            <a:normAutofit/>
          </a:bodyPr>
          <a:lstStyle/>
          <a:p>
            <a:pPr algn="l" marL="212090" indent="-212090">
              <a:lnSpc>
                <a:spcPts val="2800"/>
              </a:lnSpc>
              <a:buSzPct val="100000"/>
              <a:buChar char="•"/>
            </a:pPr>
            <a:r>
              <a:rPr lang="en-US" sz="2000" dirty="0">
                <a:solidFill>
                  <a:srgbClr val="14201F"/>
                </a:solidFill>
                <a:latin typeface="Helvetica" pitchFamily="34" charset="0"/>
                <a:ea typeface="Helvetica" pitchFamily="34" charset="-122"/>
                <a:cs typeface="Helvetica" pitchFamily="34" charset="-120"/>
              </a:rPr>
              <a:t>Camera measures the sample and picks the sieve sizes</a:t>
            </a:r>
            <a:endParaRPr lang="en-US" sz="2000" dirty="0"/>
          </a:p>
          <a:p>
            <a:pPr algn="l" marL="212090" indent="-212090">
              <a:lnSpc>
                <a:spcPts val="2800"/>
              </a:lnSpc>
              <a:buSzPct val="100000"/>
              <a:buChar char="•"/>
            </a:pPr>
            <a:r>
              <a:rPr lang="en-US" sz="2000" dirty="0">
                <a:solidFill>
                  <a:srgbClr val="14201F"/>
                </a:solidFill>
                <a:latin typeface="Helvetica" pitchFamily="34" charset="0"/>
                <a:ea typeface="Helvetica" pitchFamily="34" charset="-122"/>
                <a:cs typeface="Helvetica" pitchFamily="34" charset="-120"/>
              </a:rPr>
              <a:t>Robot arm builds the stack and handles every tray</a:t>
            </a:r>
            <a:endParaRPr lang="en-US" sz="2000" dirty="0"/>
          </a:p>
          <a:p>
            <a:pPr algn="l" marL="212090" indent="-212090">
              <a:lnSpc>
                <a:spcPts val="2800"/>
              </a:lnSpc>
              <a:buSzPct val="100000"/>
              <a:buChar char="•"/>
            </a:pPr>
            <a:r>
              <a:rPr lang="en-US" sz="2000" dirty="0">
                <a:solidFill>
                  <a:srgbClr val="14201F"/>
                </a:solidFill>
                <a:latin typeface="Helvetica" pitchFamily="34" charset="0"/>
                <a:ea typeface="Helvetica" pitchFamily="34" charset="-122"/>
                <a:cs typeface="Helvetica" pitchFamily="34" charset="-120"/>
              </a:rPr>
              <a:t>Loop of shake, image and check until each layer is pure</a:t>
            </a:r>
            <a:endParaRPr lang="en-US" sz="2000" dirty="0"/>
          </a:p>
          <a:p>
            <a:pPr algn="l" marL="212090" indent="-212090">
              <a:lnSpc>
                <a:spcPts val="2800"/>
              </a:lnSpc>
              <a:buSzPct val="100000"/>
              <a:buChar char="•"/>
            </a:pPr>
            <a:r>
              <a:rPr lang="en-US" sz="2000" dirty="0">
                <a:solidFill>
                  <a:srgbClr val="14201F"/>
                </a:solidFill>
                <a:latin typeface="Helvetica" pitchFamily="34" charset="0"/>
                <a:ea typeface="Helvetica" pitchFamily="34" charset="-122"/>
                <a:cs typeface="Helvetica" pitchFamily="34" charset="-120"/>
              </a:rPr>
              <a:t>Clean layers delivered to scientists in collection boxes</a:t>
            </a:r>
            <a:endParaRPr lang="en-US" sz="2000" dirty="0"/>
          </a:p>
        </p:txBody>
      </p:sp>
      <p:pic>
        <p:nvPicPr>
          <p:cNvPr id="5" name="Image 0" descr="Camera above a stack of three sieve trays with finer particles in lower trays">    </p:cNvPr>
          <p:cNvPicPr>
            <a:picLocks noChangeAspect="1"/>
          </p:cNvPicPr>
          <p:nvPr/>
        </p:nvPicPr>
        <p:blipFill>
          <a:blip r:embed="rId1"/>
          <a:srcRect l="0" r="0" t="0" b="0"/>
          <a:stretch/>
        </p:blipFill>
        <p:spPr>
          <a:xfrm>
            <a:off x="8585200" y="2174240"/>
            <a:ext cx="2794000" cy="3073400"/>
          </a:xfrm>
          <a:prstGeom prst="rect">
            <a:avLst/>
          </a:prstGeom>
        </p:spPr>
      </p:pic>
      <p:sp>
        <p:nvSpPr>
          <p:cNvPr id="6" name="Text 3"/>
          <p:cNvSpPr/>
          <p:nvPr/>
        </p:nvSpPr>
        <p:spPr>
          <a:xfrm>
            <a:off x="812800" y="6238241"/>
            <a:ext cx="19722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0"/>
                </a:solidFill>
                <a:latin typeface="Helvetica" pitchFamily="34" charset="0"/>
                <a:ea typeface="Helvetica" pitchFamily="34" charset="-122"/>
                <a:cs typeface="Helvetica" pitchFamily="34" charset="-120"/>
              </a:rPr>
              <a:t>Automated sieving robot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6E56"/>
                </a:solidFill>
                <a:latin typeface="Helvetica" pitchFamily="34" charset="0"/>
                <a:ea typeface="Helvetica" pitchFamily="34" charset="-122"/>
                <a:cs typeface="Helvetica" pitchFamily="34" charset="-120"/>
              </a:rPr>
              <a:t>Design intent</a:t>
            </a:r>
            <a:endParaRPr lang="en-US" sz="1400" dirty="0"/>
          </a:p>
        </p:txBody>
      </p:sp>
      <p:sp>
        <p:nvSpPr>
          <p:cNvPr id="3" name="Text 1"/>
          <p:cNvSpPr/>
          <p:nvPr>
            <p:ph type="title"/>
          </p:nvPr>
        </p:nvSpPr>
        <p:spPr>
          <a:xfrm>
            <a:off x="812800" y="136652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Helvetica" pitchFamily="34" charset="0"/>
                <a:ea typeface="Helvetica" pitchFamily="34" charset="-122"/>
                <a:cs typeface="Helvetica" pitchFamily="34" charset="-120"/>
              </a:rPr>
              <a:t>Workflow</a:t>
            </a:r>
            <a:endParaRPr lang="en-US" sz="3600" dirty="0"/>
          </a:p>
        </p:txBody>
      </p:sp>
      <p:sp>
        <p:nvSpPr>
          <p:cNvPr id="4" name="Shape 2"/>
          <p:cNvSpPr/>
          <p:nvPr/>
        </p:nvSpPr>
        <p:spPr>
          <a:xfrm>
            <a:off x="815975" y="2177416"/>
            <a:ext cx="2520950" cy="1308100"/>
          </a:xfrm>
          <a:prstGeom prst="roundRect">
            <a:avLst>
              <a:gd name="adj" fmla="val 7524"/>
            </a:avLst>
          </a:prstGeom>
          <a:solidFill>
            <a:srgbClr val="FFFFFF"/>
          </a:solidFill>
          <a:ln w="6350">
            <a:solidFill>
              <a:srgbClr val="DCDAD0"/>
            </a:solidFill>
            <a:prstDash val="solid"/>
          </a:ln>
        </p:spPr>
      </p:sp>
      <p:sp>
        <p:nvSpPr>
          <p:cNvPr id="5" name="Text 3"/>
          <p:cNvSpPr/>
          <p:nvPr/>
        </p:nvSpPr>
        <p:spPr>
          <a:xfrm>
            <a:off x="1046480" y="2407920"/>
            <a:ext cx="21217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Helvetica" pitchFamily="34" charset="0"/>
                <a:ea typeface="Helvetica" pitchFamily="34" charset="-122"/>
                <a:cs typeface="Helvetica" pitchFamily="34" charset="-120"/>
              </a:rPr>
              <a:t>01</a:t>
            </a:r>
            <a:endParaRPr lang="en-US" sz="1300" dirty="0"/>
          </a:p>
        </p:txBody>
      </p:sp>
      <p:sp>
        <p:nvSpPr>
          <p:cNvPr id="6" name="Text 4"/>
          <p:cNvSpPr/>
          <p:nvPr/>
        </p:nvSpPr>
        <p:spPr>
          <a:xfrm>
            <a:off x="1046480" y="2715261"/>
            <a:ext cx="2121738" cy="295275"/>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14201F"/>
                </a:solidFill>
                <a:latin typeface="Helvetica" pitchFamily="34" charset="0"/>
                <a:ea typeface="Helvetica" pitchFamily="34" charset="-122"/>
                <a:cs typeface="Helvetica" pitchFamily="34" charset="-120"/>
              </a:rPr>
              <a:t>Image the sample</a:t>
            </a:r>
            <a:endParaRPr lang="en-US" sz="1700" dirty="0"/>
          </a:p>
        </p:txBody>
      </p:sp>
      <p:sp>
        <p:nvSpPr>
          <p:cNvPr id="7" name="Shape 5"/>
          <p:cNvSpPr/>
          <p:nvPr/>
        </p:nvSpPr>
        <p:spPr>
          <a:xfrm>
            <a:off x="3495675" y="2177416"/>
            <a:ext cx="2520950" cy="1308100"/>
          </a:xfrm>
          <a:prstGeom prst="roundRect">
            <a:avLst>
              <a:gd name="adj" fmla="val 7524"/>
            </a:avLst>
          </a:prstGeom>
          <a:solidFill>
            <a:srgbClr val="FFFFFF"/>
          </a:solidFill>
          <a:ln w="6350">
            <a:solidFill>
              <a:srgbClr val="DCDAD0"/>
            </a:solidFill>
            <a:prstDash val="solid"/>
          </a:ln>
        </p:spPr>
      </p:sp>
      <p:sp>
        <p:nvSpPr>
          <p:cNvPr id="8" name="Text 6"/>
          <p:cNvSpPr/>
          <p:nvPr/>
        </p:nvSpPr>
        <p:spPr>
          <a:xfrm>
            <a:off x="3726180" y="2407920"/>
            <a:ext cx="21217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Helvetica" pitchFamily="34" charset="0"/>
                <a:ea typeface="Helvetica" pitchFamily="34" charset="-122"/>
                <a:cs typeface="Helvetica" pitchFamily="34" charset="-120"/>
              </a:rPr>
              <a:t>02</a:t>
            </a:r>
            <a:endParaRPr lang="en-US" sz="1300" dirty="0"/>
          </a:p>
        </p:txBody>
      </p:sp>
      <p:sp>
        <p:nvSpPr>
          <p:cNvPr id="9" name="Text 7"/>
          <p:cNvSpPr/>
          <p:nvPr/>
        </p:nvSpPr>
        <p:spPr>
          <a:xfrm>
            <a:off x="3726180" y="2715261"/>
            <a:ext cx="2121738" cy="565150"/>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14201F"/>
                </a:solidFill>
                <a:latin typeface="Helvetica" pitchFamily="34" charset="0"/>
                <a:ea typeface="Helvetica" pitchFamily="34" charset="-122"/>
                <a:cs typeface="Helvetica" pitchFamily="34" charset="-120"/>
              </a:rPr>
              <a:t>Measure size distribution</a:t>
            </a:r>
            <a:endParaRPr lang="en-US" sz="1700" dirty="0"/>
          </a:p>
        </p:txBody>
      </p:sp>
      <p:sp>
        <p:nvSpPr>
          <p:cNvPr id="10" name="Shape 8"/>
          <p:cNvSpPr/>
          <p:nvPr/>
        </p:nvSpPr>
        <p:spPr>
          <a:xfrm>
            <a:off x="6175375" y="2177416"/>
            <a:ext cx="2520950" cy="1308100"/>
          </a:xfrm>
          <a:prstGeom prst="roundRect">
            <a:avLst>
              <a:gd name="adj" fmla="val 7524"/>
            </a:avLst>
          </a:prstGeom>
          <a:solidFill>
            <a:srgbClr val="FFFFFF"/>
          </a:solidFill>
          <a:ln w="6350">
            <a:solidFill>
              <a:srgbClr val="DCDAD0"/>
            </a:solidFill>
            <a:prstDash val="solid"/>
          </a:ln>
        </p:spPr>
      </p:sp>
      <p:sp>
        <p:nvSpPr>
          <p:cNvPr id="11" name="Text 9"/>
          <p:cNvSpPr/>
          <p:nvPr/>
        </p:nvSpPr>
        <p:spPr>
          <a:xfrm>
            <a:off x="6405880" y="2407920"/>
            <a:ext cx="21217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Helvetica" pitchFamily="34" charset="0"/>
                <a:ea typeface="Helvetica" pitchFamily="34" charset="-122"/>
                <a:cs typeface="Helvetica" pitchFamily="34" charset="-120"/>
              </a:rPr>
              <a:t>03</a:t>
            </a:r>
            <a:endParaRPr lang="en-US" sz="1300" dirty="0"/>
          </a:p>
        </p:txBody>
      </p:sp>
      <p:sp>
        <p:nvSpPr>
          <p:cNvPr id="12" name="Text 10"/>
          <p:cNvSpPr/>
          <p:nvPr/>
        </p:nvSpPr>
        <p:spPr>
          <a:xfrm>
            <a:off x="6405880" y="2715261"/>
            <a:ext cx="2121738" cy="565150"/>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14201F"/>
                </a:solidFill>
                <a:latin typeface="Helvetica" pitchFamily="34" charset="0"/>
                <a:ea typeface="Helvetica" pitchFamily="34" charset="-122"/>
                <a:cs typeface="Helvetica" pitchFamily="34" charset="-120"/>
              </a:rPr>
              <a:t>Choose sieve meshes</a:t>
            </a:r>
            <a:endParaRPr lang="en-US" sz="1700" dirty="0"/>
          </a:p>
        </p:txBody>
      </p:sp>
      <p:sp>
        <p:nvSpPr>
          <p:cNvPr id="13" name="Shape 11"/>
          <p:cNvSpPr/>
          <p:nvPr/>
        </p:nvSpPr>
        <p:spPr>
          <a:xfrm>
            <a:off x="8855075" y="2177416"/>
            <a:ext cx="2520950" cy="1308100"/>
          </a:xfrm>
          <a:prstGeom prst="roundRect">
            <a:avLst>
              <a:gd name="adj" fmla="val 7524"/>
            </a:avLst>
          </a:prstGeom>
          <a:solidFill>
            <a:srgbClr val="FFFFFF"/>
          </a:solidFill>
          <a:ln w="6350">
            <a:solidFill>
              <a:srgbClr val="DCDAD0"/>
            </a:solidFill>
            <a:prstDash val="solid"/>
          </a:ln>
        </p:spPr>
      </p:sp>
      <p:sp>
        <p:nvSpPr>
          <p:cNvPr id="14" name="Text 12"/>
          <p:cNvSpPr/>
          <p:nvPr/>
        </p:nvSpPr>
        <p:spPr>
          <a:xfrm>
            <a:off x="9085580" y="2407920"/>
            <a:ext cx="21217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Helvetica" pitchFamily="34" charset="0"/>
                <a:ea typeface="Helvetica" pitchFamily="34" charset="-122"/>
                <a:cs typeface="Helvetica" pitchFamily="34" charset="-120"/>
              </a:rPr>
              <a:t>04</a:t>
            </a:r>
            <a:endParaRPr lang="en-US" sz="1300" dirty="0"/>
          </a:p>
        </p:txBody>
      </p:sp>
      <p:sp>
        <p:nvSpPr>
          <p:cNvPr id="15" name="Text 13"/>
          <p:cNvSpPr/>
          <p:nvPr/>
        </p:nvSpPr>
        <p:spPr>
          <a:xfrm>
            <a:off x="9085580" y="2715261"/>
            <a:ext cx="2121738" cy="565150"/>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14201F"/>
                </a:solidFill>
                <a:latin typeface="Helvetica" pitchFamily="34" charset="0"/>
                <a:ea typeface="Helvetica" pitchFamily="34" charset="-122"/>
                <a:cs typeface="Helvetica" pitchFamily="34" charset="-120"/>
              </a:rPr>
              <a:t>Robot stacks trays on rack</a:t>
            </a:r>
            <a:endParaRPr lang="en-US" sz="1700" dirty="0"/>
          </a:p>
        </p:txBody>
      </p:sp>
      <p:sp>
        <p:nvSpPr>
          <p:cNvPr id="16" name="Shape 14"/>
          <p:cNvSpPr/>
          <p:nvPr/>
        </p:nvSpPr>
        <p:spPr>
          <a:xfrm>
            <a:off x="815975" y="3796666"/>
            <a:ext cx="2520950" cy="1308100"/>
          </a:xfrm>
          <a:prstGeom prst="roundRect">
            <a:avLst>
              <a:gd name="adj" fmla="val 7524"/>
            </a:avLst>
          </a:prstGeom>
          <a:solidFill>
            <a:srgbClr val="FFFFFF"/>
          </a:solidFill>
          <a:ln w="6350">
            <a:solidFill>
              <a:srgbClr val="DCDAD0"/>
            </a:solidFill>
            <a:prstDash val="solid"/>
          </a:ln>
        </p:spPr>
      </p:sp>
      <p:sp>
        <p:nvSpPr>
          <p:cNvPr id="17" name="Text 15"/>
          <p:cNvSpPr/>
          <p:nvPr/>
        </p:nvSpPr>
        <p:spPr>
          <a:xfrm>
            <a:off x="1046480" y="4027170"/>
            <a:ext cx="21217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81F"/>
                </a:solidFill>
                <a:latin typeface="Helvetica" pitchFamily="34" charset="0"/>
                <a:ea typeface="Helvetica" pitchFamily="34" charset="-122"/>
                <a:cs typeface="Helvetica" pitchFamily="34" charset="-120"/>
              </a:rPr>
              <a:t>05</a:t>
            </a:r>
            <a:endParaRPr lang="en-US" sz="1300" dirty="0"/>
          </a:p>
        </p:txBody>
      </p:sp>
      <p:sp>
        <p:nvSpPr>
          <p:cNvPr id="18" name="Text 16"/>
          <p:cNvSpPr/>
          <p:nvPr/>
        </p:nvSpPr>
        <p:spPr>
          <a:xfrm>
            <a:off x="1046480" y="4334511"/>
            <a:ext cx="2121738" cy="295275"/>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14201F"/>
                </a:solidFill>
                <a:latin typeface="Helvetica" pitchFamily="34" charset="0"/>
                <a:ea typeface="Helvetica" pitchFamily="34" charset="-122"/>
                <a:cs typeface="Helvetica" pitchFamily="34" charset="-120"/>
              </a:rPr>
              <a:t>Shake the rack</a:t>
            </a:r>
            <a:endParaRPr lang="en-US" sz="1700" dirty="0"/>
          </a:p>
        </p:txBody>
      </p:sp>
      <p:sp>
        <p:nvSpPr>
          <p:cNvPr id="19" name="Shape 17"/>
          <p:cNvSpPr/>
          <p:nvPr/>
        </p:nvSpPr>
        <p:spPr>
          <a:xfrm>
            <a:off x="3495675" y="3796666"/>
            <a:ext cx="2520950" cy="1308100"/>
          </a:xfrm>
          <a:prstGeom prst="roundRect">
            <a:avLst>
              <a:gd name="adj" fmla="val 7524"/>
            </a:avLst>
          </a:prstGeom>
          <a:solidFill>
            <a:srgbClr val="FFFFFF"/>
          </a:solidFill>
          <a:ln w="6350">
            <a:solidFill>
              <a:srgbClr val="DCDAD0"/>
            </a:solidFill>
            <a:prstDash val="solid"/>
          </a:ln>
        </p:spPr>
      </p:sp>
      <p:sp>
        <p:nvSpPr>
          <p:cNvPr id="20" name="Text 18"/>
          <p:cNvSpPr/>
          <p:nvPr/>
        </p:nvSpPr>
        <p:spPr>
          <a:xfrm>
            <a:off x="3726180" y="4027170"/>
            <a:ext cx="21217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81F"/>
                </a:solidFill>
                <a:latin typeface="Helvetica" pitchFamily="34" charset="0"/>
                <a:ea typeface="Helvetica" pitchFamily="34" charset="-122"/>
                <a:cs typeface="Helvetica" pitchFamily="34" charset="-120"/>
              </a:rPr>
              <a:t>06</a:t>
            </a:r>
            <a:endParaRPr lang="en-US" sz="1300" dirty="0"/>
          </a:p>
        </p:txBody>
      </p:sp>
      <p:sp>
        <p:nvSpPr>
          <p:cNvPr id="21" name="Text 19"/>
          <p:cNvSpPr/>
          <p:nvPr/>
        </p:nvSpPr>
        <p:spPr>
          <a:xfrm>
            <a:off x="3726180" y="4334511"/>
            <a:ext cx="2121738" cy="565150"/>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14201F"/>
                </a:solidFill>
                <a:latin typeface="Helvetica" pitchFamily="34" charset="0"/>
                <a:ea typeface="Helvetica" pitchFamily="34" charset="-122"/>
                <a:cs typeface="Helvetica" pitchFamily="34" charset="-120"/>
              </a:rPr>
              <a:t>Pull tray and re-image</a:t>
            </a:r>
            <a:endParaRPr lang="en-US" sz="1700" dirty="0"/>
          </a:p>
        </p:txBody>
      </p:sp>
      <p:sp>
        <p:nvSpPr>
          <p:cNvPr id="22" name="Shape 20"/>
          <p:cNvSpPr/>
          <p:nvPr/>
        </p:nvSpPr>
        <p:spPr>
          <a:xfrm>
            <a:off x="6175375" y="3796666"/>
            <a:ext cx="2520950" cy="1308100"/>
          </a:xfrm>
          <a:prstGeom prst="roundRect">
            <a:avLst>
              <a:gd name="adj" fmla="val 7524"/>
            </a:avLst>
          </a:prstGeom>
          <a:solidFill>
            <a:srgbClr val="FFFFFF"/>
          </a:solidFill>
          <a:ln w="6350">
            <a:solidFill>
              <a:srgbClr val="DCDAD0"/>
            </a:solidFill>
            <a:prstDash val="solid"/>
          </a:ln>
        </p:spPr>
      </p:sp>
      <p:sp>
        <p:nvSpPr>
          <p:cNvPr id="23" name="Text 21"/>
          <p:cNvSpPr/>
          <p:nvPr/>
        </p:nvSpPr>
        <p:spPr>
          <a:xfrm>
            <a:off x="6405880" y="4027170"/>
            <a:ext cx="21217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81F"/>
                </a:solidFill>
                <a:latin typeface="Helvetica" pitchFamily="34" charset="0"/>
                <a:ea typeface="Helvetica" pitchFamily="34" charset="-122"/>
                <a:cs typeface="Helvetica" pitchFamily="34" charset="-120"/>
              </a:rPr>
              <a:t>07</a:t>
            </a:r>
            <a:endParaRPr lang="en-US" sz="1300" dirty="0"/>
          </a:p>
        </p:txBody>
      </p:sp>
      <p:sp>
        <p:nvSpPr>
          <p:cNvPr id="24" name="Text 22"/>
          <p:cNvSpPr/>
          <p:nvPr/>
        </p:nvSpPr>
        <p:spPr>
          <a:xfrm>
            <a:off x="6405880" y="4334511"/>
            <a:ext cx="2121738" cy="565150"/>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14201F"/>
                </a:solidFill>
                <a:latin typeface="Helvetica" pitchFamily="34" charset="0"/>
                <a:ea typeface="Helvetica" pitchFamily="34" charset="-122"/>
                <a:cs typeface="Helvetica" pitchFamily="34" charset="-120"/>
              </a:rPr>
              <a:t>Purity check, repeat if low</a:t>
            </a:r>
            <a:endParaRPr lang="en-US" sz="1700" dirty="0"/>
          </a:p>
        </p:txBody>
      </p:sp>
      <p:sp>
        <p:nvSpPr>
          <p:cNvPr id="25" name="Shape 23"/>
          <p:cNvSpPr/>
          <p:nvPr/>
        </p:nvSpPr>
        <p:spPr>
          <a:xfrm>
            <a:off x="8855075" y="3796666"/>
            <a:ext cx="2520950" cy="1308100"/>
          </a:xfrm>
          <a:prstGeom prst="roundRect">
            <a:avLst>
              <a:gd name="adj" fmla="val 7524"/>
            </a:avLst>
          </a:prstGeom>
          <a:solidFill>
            <a:srgbClr val="FFFFFF"/>
          </a:solidFill>
          <a:ln w="6350">
            <a:solidFill>
              <a:srgbClr val="DCDAD0"/>
            </a:solidFill>
            <a:prstDash val="solid"/>
          </a:ln>
        </p:spPr>
      </p:sp>
      <p:sp>
        <p:nvSpPr>
          <p:cNvPr id="26" name="Text 24"/>
          <p:cNvSpPr/>
          <p:nvPr/>
        </p:nvSpPr>
        <p:spPr>
          <a:xfrm>
            <a:off x="9085580" y="4027170"/>
            <a:ext cx="212173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81F"/>
                </a:solidFill>
                <a:latin typeface="Helvetica" pitchFamily="34" charset="0"/>
                <a:ea typeface="Helvetica" pitchFamily="34" charset="-122"/>
                <a:cs typeface="Helvetica" pitchFamily="34" charset="-120"/>
              </a:rPr>
              <a:t>08</a:t>
            </a:r>
            <a:endParaRPr lang="en-US" sz="1300" dirty="0"/>
          </a:p>
        </p:txBody>
      </p:sp>
      <p:sp>
        <p:nvSpPr>
          <p:cNvPr id="27" name="Text 25"/>
          <p:cNvSpPr/>
          <p:nvPr/>
        </p:nvSpPr>
        <p:spPr>
          <a:xfrm>
            <a:off x="9085580" y="4334511"/>
            <a:ext cx="2121738" cy="565150"/>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14201F"/>
                </a:solidFill>
                <a:latin typeface="Helvetica" pitchFamily="34" charset="0"/>
                <a:ea typeface="Helvetica" pitchFamily="34" charset="-122"/>
                <a:cs typeface="Helvetica" pitchFamily="34" charset="-120"/>
              </a:rPr>
              <a:t>Pour into collection boxes</a:t>
            </a:r>
            <a:endParaRPr lang="en-US" sz="1700" dirty="0"/>
          </a:p>
        </p:txBody>
      </p:sp>
      <p:sp>
        <p:nvSpPr>
          <p:cNvPr id="28" name="Text 26"/>
          <p:cNvSpPr/>
          <p:nvPr/>
        </p:nvSpPr>
        <p:spPr>
          <a:xfrm>
            <a:off x="812800" y="6238241"/>
            <a:ext cx="19722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0"/>
                </a:solidFill>
                <a:latin typeface="Helvetica" pitchFamily="34" charset="0"/>
                <a:ea typeface="Helvetica" pitchFamily="34" charset="-122"/>
                <a:cs typeface="Helvetica" pitchFamily="34" charset="-120"/>
              </a:rPr>
              <a:t>Automated sieving robot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6E56"/>
                </a:solidFill>
                <a:latin typeface="Helvetica" pitchFamily="34" charset="0"/>
                <a:ea typeface="Helvetica" pitchFamily="34" charset="-122"/>
                <a:cs typeface="Helvetica" pitchFamily="34" charset="-120"/>
              </a:rPr>
              <a:t>Design intent</a:t>
            </a:r>
            <a:endParaRPr lang="en-US" sz="1400" dirty="0"/>
          </a:p>
        </p:txBody>
      </p:sp>
      <p:sp>
        <p:nvSpPr>
          <p:cNvPr id="3" name="Text 1"/>
          <p:cNvSpPr/>
          <p:nvPr>
            <p:ph type="title"/>
          </p:nvPr>
        </p:nvSpPr>
        <p:spPr>
          <a:xfrm>
            <a:off x="812800" y="136652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Helvetica" pitchFamily="34" charset="0"/>
                <a:ea typeface="Helvetica" pitchFamily="34" charset="-122"/>
                <a:cs typeface="Helvetica" pitchFamily="34" charset="-120"/>
              </a:rPr>
              <a:t>System architecture</a:t>
            </a:r>
            <a:endParaRPr lang="en-US" sz="3600" dirty="0"/>
          </a:p>
        </p:txBody>
      </p:sp>
      <p:pic>
        <p:nvPicPr>
          <p:cNvPr id="4" name="Image 0" descr="System architecture: camera, compute, robot arm, rack and shaker, collection boxes, with a tray shelf and run log">    </p:cNvPr>
          <p:cNvPicPr>
            <a:picLocks noChangeAspect="1"/>
          </p:cNvPicPr>
          <p:nvPr/>
        </p:nvPicPr>
        <p:blipFill>
          <a:blip r:embed="rId1"/>
          <a:srcRect l="0" r="0" t="-18" b="-18"/>
          <a:stretch/>
        </p:blipFill>
        <p:spPr>
          <a:xfrm>
            <a:off x="812800" y="2174241"/>
            <a:ext cx="10566400" cy="2178050"/>
          </a:xfrm>
          <a:prstGeom prst="rect">
            <a:avLst/>
          </a:prstGeom>
        </p:spPr>
      </p:pic>
      <p:sp>
        <p:nvSpPr>
          <p:cNvPr id="5" name="Text 2"/>
          <p:cNvSpPr/>
          <p:nvPr/>
        </p:nvSpPr>
        <p:spPr>
          <a:xfrm>
            <a:off x="812800" y="6238239"/>
            <a:ext cx="19722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0"/>
                </a:solidFill>
                <a:latin typeface="Helvetica" pitchFamily="34" charset="0"/>
                <a:ea typeface="Helvetica" pitchFamily="34" charset="-122"/>
                <a:cs typeface="Helvetica" pitchFamily="34" charset="-120"/>
              </a:rPr>
              <a:t>Automated sieving robot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201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DCAA5"/>
                </a:solidFill>
                <a:latin typeface="Helvetica" pitchFamily="34" charset="0"/>
                <a:ea typeface="Helvetica" pitchFamily="34" charset="-122"/>
                <a:cs typeface="Helvetica" pitchFamily="34" charset="-120"/>
              </a:rPr>
              <a:t>Design intent</a:t>
            </a:r>
            <a:endParaRPr lang="en-US" sz="1400" dirty="0"/>
          </a:p>
        </p:txBody>
      </p:sp>
      <p:sp>
        <p:nvSpPr>
          <p:cNvPr id="3" name="Text 1"/>
          <p:cNvSpPr/>
          <p:nvPr>
            <p:ph type="title"/>
          </p:nvPr>
        </p:nvSpPr>
        <p:spPr>
          <a:xfrm>
            <a:off x="812800" y="13665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6F5F0"/>
                </a:solidFill>
                <a:latin typeface="Helvetica" pitchFamily="34" charset="0"/>
                <a:ea typeface="Helvetica" pitchFamily="34" charset="-122"/>
                <a:cs typeface="Helvetica" pitchFamily="34" charset="-120"/>
              </a:rPr>
              <a:t>Deciding when a tray is done</a:t>
            </a:r>
            <a:endParaRPr lang="en-US" sz="3600" dirty="0"/>
          </a:p>
        </p:txBody>
      </p:sp>
      <p:sp>
        <p:nvSpPr>
          <p:cNvPr id="4" name="Shape 2"/>
          <p:cNvSpPr/>
          <p:nvPr/>
        </p:nvSpPr>
        <p:spPr>
          <a:xfrm>
            <a:off x="815975" y="2177414"/>
            <a:ext cx="3414157" cy="1577975"/>
          </a:xfrm>
          <a:prstGeom prst="roundRect">
            <a:avLst>
              <a:gd name="adj" fmla="val 6237"/>
            </a:avLst>
          </a:prstGeom>
          <a:solidFill>
            <a:srgbClr val="FFFFFF"/>
          </a:solidFill>
          <a:ln w="6350">
            <a:solidFill>
              <a:srgbClr val="DCDAD0"/>
            </a:solidFill>
            <a:prstDash val="solid"/>
          </a:ln>
        </p:spPr>
      </p:sp>
      <p:sp>
        <p:nvSpPr>
          <p:cNvPr id="5" name="Text 3"/>
          <p:cNvSpPr/>
          <p:nvPr/>
        </p:nvSpPr>
        <p:spPr>
          <a:xfrm>
            <a:off x="1046480" y="2407921"/>
            <a:ext cx="304174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Helvetica" pitchFamily="34" charset="0"/>
                <a:ea typeface="Helvetica" pitchFamily="34" charset="-122"/>
                <a:cs typeface="Helvetica" pitchFamily="34" charset="-120"/>
              </a:rPr>
              <a:t>Purity per tray</a:t>
            </a:r>
            <a:endParaRPr lang="en-US" sz="1300" dirty="0"/>
          </a:p>
        </p:txBody>
      </p:sp>
      <p:sp>
        <p:nvSpPr>
          <p:cNvPr id="6" name="Text 4"/>
          <p:cNvSpPr/>
          <p:nvPr/>
        </p:nvSpPr>
        <p:spPr>
          <a:xfrm>
            <a:off x="1046480" y="2715261"/>
            <a:ext cx="3041741" cy="565150"/>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F6F5F0"/>
                </a:solidFill>
                <a:latin typeface="Helvetica" pitchFamily="34" charset="0"/>
                <a:ea typeface="Helvetica" pitchFamily="34" charset="-122"/>
                <a:cs typeface="Helvetica" pitchFamily="34" charset="-120"/>
              </a:rPr>
              <a:t>Target objects divided by all objects in the tray image</a:t>
            </a:r>
            <a:endParaRPr lang="en-US" sz="1700" dirty="0"/>
          </a:p>
        </p:txBody>
      </p:sp>
      <p:sp>
        <p:nvSpPr>
          <p:cNvPr id="7" name="Shape 5"/>
          <p:cNvSpPr/>
          <p:nvPr/>
        </p:nvSpPr>
        <p:spPr>
          <a:xfrm>
            <a:off x="4388882" y="2177414"/>
            <a:ext cx="3414236" cy="1577975"/>
          </a:xfrm>
          <a:prstGeom prst="roundRect">
            <a:avLst>
              <a:gd name="adj" fmla="val 6237"/>
            </a:avLst>
          </a:prstGeom>
          <a:solidFill>
            <a:srgbClr val="FFFFFF"/>
          </a:solidFill>
          <a:ln w="6350">
            <a:solidFill>
              <a:srgbClr val="DCDAD0"/>
            </a:solidFill>
            <a:prstDash val="solid"/>
          </a:ln>
        </p:spPr>
      </p:sp>
      <p:sp>
        <p:nvSpPr>
          <p:cNvPr id="8" name="Text 6"/>
          <p:cNvSpPr/>
          <p:nvPr/>
        </p:nvSpPr>
        <p:spPr>
          <a:xfrm>
            <a:off x="4619387" y="2407921"/>
            <a:ext cx="3041823"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Helvetica" pitchFamily="34" charset="0"/>
                <a:ea typeface="Helvetica" pitchFamily="34" charset="-122"/>
                <a:cs typeface="Helvetica" pitchFamily="34" charset="-120"/>
              </a:rPr>
              <a:t>Pass rule</a:t>
            </a:r>
            <a:endParaRPr lang="en-US" sz="1300" dirty="0"/>
          </a:p>
        </p:txBody>
      </p:sp>
      <p:sp>
        <p:nvSpPr>
          <p:cNvPr id="9" name="Text 7"/>
          <p:cNvSpPr/>
          <p:nvPr/>
        </p:nvSpPr>
        <p:spPr>
          <a:xfrm>
            <a:off x="4619387" y="2715261"/>
            <a:ext cx="3041823" cy="565150"/>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F6F5F0"/>
                </a:solidFill>
                <a:latin typeface="Helvetica" pitchFamily="34" charset="0"/>
                <a:ea typeface="Helvetica" pitchFamily="34" charset="-122"/>
                <a:cs typeface="Helvetica" pitchFamily="34" charset="-120"/>
              </a:rPr>
              <a:t>At least [target %] on two cycles in a row</a:t>
            </a:r>
            <a:endParaRPr lang="en-US" sz="1700" dirty="0"/>
          </a:p>
        </p:txBody>
      </p:sp>
      <p:sp>
        <p:nvSpPr>
          <p:cNvPr id="10" name="Shape 8"/>
          <p:cNvSpPr/>
          <p:nvPr/>
        </p:nvSpPr>
        <p:spPr>
          <a:xfrm>
            <a:off x="7961868" y="2177414"/>
            <a:ext cx="3414157" cy="1577975"/>
          </a:xfrm>
          <a:prstGeom prst="roundRect">
            <a:avLst>
              <a:gd name="adj" fmla="val 6237"/>
            </a:avLst>
          </a:prstGeom>
          <a:solidFill>
            <a:srgbClr val="FFFFFF"/>
          </a:solidFill>
          <a:ln w="6350">
            <a:solidFill>
              <a:srgbClr val="DCDAD0"/>
            </a:solidFill>
            <a:prstDash val="solid"/>
          </a:ln>
        </p:spPr>
      </p:sp>
      <p:sp>
        <p:nvSpPr>
          <p:cNvPr id="11" name="Text 9"/>
          <p:cNvSpPr/>
          <p:nvPr/>
        </p:nvSpPr>
        <p:spPr>
          <a:xfrm>
            <a:off x="8192374" y="2407921"/>
            <a:ext cx="3041741"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Helvetica" pitchFamily="34" charset="0"/>
                <a:ea typeface="Helvetica" pitchFamily="34" charset="-122"/>
                <a:cs typeface="Helvetica" pitchFamily="34" charset="-120"/>
              </a:rPr>
              <a:t>Stop and flag</a:t>
            </a:r>
            <a:endParaRPr lang="en-US" sz="1300" dirty="0"/>
          </a:p>
        </p:txBody>
      </p:sp>
      <p:sp>
        <p:nvSpPr>
          <p:cNvPr id="12" name="Text 10"/>
          <p:cNvSpPr/>
          <p:nvPr/>
        </p:nvSpPr>
        <p:spPr>
          <a:xfrm>
            <a:off x="8192374" y="2715261"/>
            <a:ext cx="3041741" cy="835025"/>
          </a:xfrm>
          <a:prstGeom prst="rect">
            <a:avLst/>
          </a:prstGeom>
          <a:noFill/>
          <a:ln/>
        </p:spPr>
        <p:txBody>
          <a:bodyPr wrap="square" lIns="0" tIns="0" rIns="0" bIns="0" rtlCol="0" anchor="t">
            <a:normAutofit/>
          </a:bodyPr>
          <a:lstStyle/>
          <a:p>
            <a:pPr algn="l" indent="0" marL="0">
              <a:lnSpc>
                <a:spcPts val="2125"/>
              </a:lnSpc>
              <a:buNone/>
            </a:pPr>
            <a:r>
              <a:rPr lang="en-US" sz="1700" dirty="0">
                <a:solidFill>
                  <a:srgbClr val="F6F5F0"/>
                </a:solidFill>
                <a:latin typeface="Helvetica" pitchFamily="34" charset="0"/>
                <a:ea typeface="Helvetica" pitchFamily="34" charset="-122"/>
                <a:cs typeface="Helvetica" pitchFamily="34" charset="-120"/>
              </a:rPr>
              <a:t>[N] cycles max, or no improvement: send to human review</a:t>
            </a:r>
            <a:endParaRPr lang="en-US" sz="1700" dirty="0"/>
          </a:p>
        </p:txBody>
      </p:sp>
      <p:sp>
        <p:nvSpPr>
          <p:cNvPr id="13" name="Text 11"/>
          <p:cNvSpPr/>
          <p:nvPr/>
        </p:nvSpPr>
        <p:spPr>
          <a:xfrm>
            <a:off x="812800" y="6238239"/>
            <a:ext cx="19722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9E"/>
                </a:solidFill>
                <a:latin typeface="Helvetica" pitchFamily="34" charset="0"/>
                <a:ea typeface="Helvetica" pitchFamily="34" charset="-122"/>
                <a:cs typeface="Helvetica" pitchFamily="34" charset="-120"/>
              </a:rPr>
              <a:t>Automated sieving robot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81F"/>
                </a:solidFill>
                <a:latin typeface="Helvetica" pitchFamily="34" charset="0"/>
                <a:ea typeface="Helvetica" pitchFamily="34" charset="-122"/>
                <a:cs typeface="Helvetica" pitchFamily="34" charset="-120"/>
              </a:rPr>
              <a:t>Outcome</a:t>
            </a:r>
            <a:endParaRPr lang="en-US" sz="1400" dirty="0"/>
          </a:p>
        </p:txBody>
      </p:sp>
      <p:sp>
        <p:nvSpPr>
          <p:cNvPr id="3" name="Text 1"/>
          <p:cNvSpPr/>
          <p:nvPr>
            <p:ph type="title"/>
          </p:nvPr>
        </p:nvSpPr>
        <p:spPr>
          <a:xfrm>
            <a:off x="812800" y="13665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Helvetica" pitchFamily="34" charset="0"/>
                <a:ea typeface="Helvetica" pitchFamily="34" charset="-122"/>
                <a:cs typeface="Helvetica" pitchFamily="34" charset="-120"/>
              </a:rPr>
              <a:t>What we achieved</a:t>
            </a:r>
            <a:endParaRPr lang="en-US" sz="3600" dirty="0"/>
          </a:p>
        </p:txBody>
      </p:sp>
      <p:sp>
        <p:nvSpPr>
          <p:cNvPr id="4" name="Text 2"/>
          <p:cNvSpPr/>
          <p:nvPr/>
        </p:nvSpPr>
        <p:spPr>
          <a:xfrm>
            <a:off x="854710" y="2174239"/>
            <a:ext cx="7380478" cy="3225800"/>
          </a:xfrm>
          <a:prstGeom prst="rect">
            <a:avLst/>
          </a:prstGeom>
          <a:noFill/>
          <a:ln/>
        </p:spPr>
        <p:txBody>
          <a:bodyPr wrap="square" lIns="0" tIns="0" rIns="0" bIns="0" rtlCol="0" anchor="t">
            <a:normAutofit/>
          </a:bodyPr>
          <a:lstStyle/>
          <a:p>
            <a:pPr algn="l" marL="212090" indent="-212090">
              <a:lnSpc>
                <a:spcPts val="2800"/>
              </a:lnSpc>
              <a:buSzPct val="100000"/>
              <a:buChar char="•"/>
            </a:pPr>
            <a:r>
              <a:rPr lang="en-US" sz="2000" dirty="0">
                <a:solidFill>
                  <a:srgbClr val="14201F"/>
                </a:solidFill>
                <a:latin typeface="Helvetica" pitchFamily="34" charset="0"/>
                <a:ea typeface="Helvetica" pitchFamily="34" charset="-122"/>
                <a:cs typeface="Helvetica" pitchFamily="34" charset="-120"/>
              </a:rPr>
              <a:t>[Which parts of the pipeline work end to end]</a:t>
            </a:r>
            <a:endParaRPr lang="en-US" sz="2000" dirty="0"/>
          </a:p>
          <a:p>
            <a:pPr algn="l" marL="212090" indent="-212090">
              <a:lnSpc>
                <a:spcPts val="2800"/>
              </a:lnSpc>
              <a:buSzPct val="100000"/>
              <a:buChar char="•"/>
            </a:pPr>
            <a:r>
              <a:rPr lang="en-US" sz="2000" dirty="0">
                <a:solidFill>
                  <a:srgbClr val="14201F"/>
                </a:solidFill>
                <a:latin typeface="Helvetica" pitchFamily="34" charset="0"/>
                <a:ea typeface="Helvetica" pitchFamily="34" charset="-122"/>
                <a:cs typeface="Helvetica" pitchFamily="34" charset="-120"/>
              </a:rPr>
              <a:t>[Measured purity or accuracy, with sample size]</a:t>
            </a:r>
            <a:endParaRPr lang="en-US" sz="2000" dirty="0"/>
          </a:p>
          <a:p>
            <a:pPr algn="l" marL="212090" indent="-212090">
              <a:lnSpc>
                <a:spcPts val="2800"/>
              </a:lnSpc>
              <a:buSzPct val="100000"/>
              <a:buChar char="•"/>
            </a:pPr>
            <a:r>
              <a:rPr lang="en-US" sz="2000" dirty="0">
                <a:solidFill>
                  <a:srgbClr val="14201F"/>
                </a:solidFill>
                <a:latin typeface="Helvetica" pitchFamily="34" charset="0"/>
                <a:ea typeface="Helvetica" pitchFamily="34" charset="-122"/>
                <a:cs typeface="Helvetica" pitchFamily="34" charset="-120"/>
              </a:rPr>
              <a:t>[Cycle time per sample]</a:t>
            </a:r>
            <a:endParaRPr lang="en-US" sz="2000" dirty="0"/>
          </a:p>
          <a:p>
            <a:pPr algn="l" marL="212090" indent="-212090">
              <a:lnSpc>
                <a:spcPts val="2800"/>
              </a:lnSpc>
              <a:buSzPct val="100000"/>
              <a:buChar char="•"/>
            </a:pPr>
            <a:r>
              <a:rPr lang="en-US" sz="2000" dirty="0">
                <a:solidFill>
                  <a:srgbClr val="14201F"/>
                </a:solidFill>
                <a:latin typeface="Helvetica" pitchFamily="34" charset="0"/>
                <a:ea typeface="Helvetica" pitchFamily="34" charset="-122"/>
                <a:cs typeface="Helvetica" pitchFamily="34" charset="-120"/>
              </a:rPr>
              <a:t>[What was demonstrated live]</a:t>
            </a:r>
            <a:endParaRPr lang="en-US" sz="2000" dirty="0"/>
          </a:p>
        </p:txBody>
      </p:sp>
      <p:sp>
        <p:nvSpPr>
          <p:cNvPr id="5" name="Shape 3"/>
          <p:cNvSpPr/>
          <p:nvPr/>
        </p:nvSpPr>
        <p:spPr>
          <a:xfrm>
            <a:off x="8331200" y="2174239"/>
            <a:ext cx="3048000" cy="1524000"/>
          </a:xfrm>
          <a:prstGeom prst="roundRect">
            <a:avLst>
              <a:gd name="adj" fmla="val 6667"/>
            </a:avLst>
          </a:prstGeom>
          <a:solidFill>
            <a:srgbClr val="E4E2D8"/>
          </a:solidFill>
          <a:ln/>
        </p:spPr>
      </p:sp>
      <p:sp>
        <p:nvSpPr>
          <p:cNvPr id="6" name="Shape 4"/>
          <p:cNvSpPr/>
          <p:nvPr/>
        </p:nvSpPr>
        <p:spPr>
          <a:xfrm>
            <a:off x="8331200" y="3850639"/>
            <a:ext cx="3048000" cy="1524000"/>
          </a:xfrm>
          <a:prstGeom prst="roundRect">
            <a:avLst>
              <a:gd name="adj" fmla="val 6667"/>
            </a:avLst>
          </a:prstGeom>
          <a:solidFill>
            <a:srgbClr val="E4E2D8"/>
          </a:solidFill>
          <a:ln/>
        </p:spPr>
      </p:sp>
      <p:sp>
        <p:nvSpPr>
          <p:cNvPr id="7" name="Text 5"/>
          <p:cNvSpPr/>
          <p:nvPr/>
        </p:nvSpPr>
        <p:spPr>
          <a:xfrm>
            <a:off x="812800" y="6238239"/>
            <a:ext cx="19722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0"/>
                </a:solidFill>
                <a:latin typeface="Helvetica" pitchFamily="34" charset="0"/>
                <a:ea typeface="Helvetica" pitchFamily="34" charset="-122"/>
                <a:cs typeface="Helvetica" pitchFamily="34" charset="-120"/>
              </a:rPr>
              <a:t>Automated sieving robot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8481F"/>
                </a:solidFill>
                <a:latin typeface="Helvetica" pitchFamily="34" charset="0"/>
                <a:ea typeface="Helvetica" pitchFamily="34" charset="-122"/>
                <a:cs typeface="Helvetica" pitchFamily="34" charset="-120"/>
              </a:rPr>
              <a:t>Outcome</a:t>
            </a:r>
            <a:endParaRPr lang="en-US" sz="1400" dirty="0"/>
          </a:p>
        </p:txBody>
      </p:sp>
      <p:sp>
        <p:nvSpPr>
          <p:cNvPr id="3" name="Text 1"/>
          <p:cNvSpPr/>
          <p:nvPr>
            <p:ph type="title"/>
          </p:nvPr>
        </p:nvSpPr>
        <p:spPr>
          <a:xfrm>
            <a:off x="812800" y="13665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Helvetica" pitchFamily="34" charset="0"/>
                <a:ea typeface="Helvetica" pitchFamily="34" charset="-122"/>
                <a:cs typeface="Helvetica" pitchFamily="34" charset="-120"/>
              </a:rPr>
              <a:t>What we learned</a:t>
            </a:r>
            <a:endParaRPr lang="en-US" sz="3600" dirty="0"/>
          </a:p>
        </p:txBody>
      </p:sp>
      <p:sp>
        <p:nvSpPr>
          <p:cNvPr id="4" name="Text 2"/>
          <p:cNvSpPr/>
          <p:nvPr/>
        </p:nvSpPr>
        <p:spPr>
          <a:xfrm>
            <a:off x="854710" y="2174239"/>
            <a:ext cx="10833862" cy="1447800"/>
          </a:xfrm>
          <a:prstGeom prst="rect">
            <a:avLst/>
          </a:prstGeom>
          <a:noFill/>
          <a:ln/>
        </p:spPr>
        <p:txBody>
          <a:bodyPr wrap="square" lIns="0" tIns="0" rIns="0" bIns="0" rtlCol="0" anchor="t">
            <a:normAutofit/>
          </a:bodyPr>
          <a:lstStyle/>
          <a:p>
            <a:pPr algn="l" marL="212090" indent="-212090">
              <a:lnSpc>
                <a:spcPts val="2800"/>
              </a:lnSpc>
              <a:buSzPct val="100000"/>
              <a:buChar char="•"/>
            </a:pPr>
            <a:r>
              <a:rPr lang="en-US" sz="2000" dirty="0">
                <a:solidFill>
                  <a:srgbClr val="14201F"/>
                </a:solidFill>
                <a:latin typeface="Helvetica" pitchFamily="34" charset="0"/>
                <a:ea typeface="Helvetica" pitchFamily="34" charset="-122"/>
                <a:cs typeface="Helvetica" pitchFamily="34" charset="-120"/>
              </a:rPr>
              <a:t>[Biggest technical surprise]</a:t>
            </a:r>
            <a:endParaRPr lang="en-US" sz="2000" dirty="0"/>
          </a:p>
          <a:p>
            <a:pPr algn="l" marL="212090" indent="-212090">
              <a:lnSpc>
                <a:spcPts val="2800"/>
              </a:lnSpc>
              <a:buSzPct val="100000"/>
              <a:buChar char="•"/>
            </a:pPr>
            <a:r>
              <a:rPr lang="en-US" sz="2000" dirty="0">
                <a:solidFill>
                  <a:srgbClr val="14201F"/>
                </a:solidFill>
                <a:latin typeface="Helvetica" pitchFamily="34" charset="0"/>
                <a:ea typeface="Helvetica" pitchFamily="34" charset="-122"/>
                <a:cs typeface="Helvetica" pitchFamily="34" charset="-120"/>
              </a:rPr>
              <a:t>[What limited accuracy: lighting, clumping, occlusion]</a:t>
            </a:r>
            <a:endParaRPr lang="en-US" sz="2000" dirty="0"/>
          </a:p>
          <a:p>
            <a:pPr algn="l" marL="212090" indent="-212090">
              <a:lnSpc>
                <a:spcPts val="2800"/>
              </a:lnSpc>
              <a:buSzPct val="100000"/>
              <a:buChar char="•"/>
            </a:pPr>
            <a:r>
              <a:rPr lang="en-US" sz="2000" dirty="0">
                <a:solidFill>
                  <a:srgbClr val="14201F"/>
                </a:solidFill>
                <a:latin typeface="Helvetica" pitchFamily="34" charset="0"/>
                <a:ea typeface="Helvetica" pitchFamily="34" charset="-122"/>
                <a:cs typeface="Helvetica" pitchFamily="34" charset="-120"/>
              </a:rPr>
              <a:t>[What the arm could and could not handle]</a:t>
            </a:r>
            <a:endParaRPr lang="en-US" sz="2000" dirty="0"/>
          </a:p>
          <a:p>
            <a:pPr algn="l" marL="212090" indent="-212090">
              <a:lnSpc>
                <a:spcPts val="2800"/>
              </a:lnSpc>
              <a:buSzPct val="100000"/>
              <a:buChar char="•"/>
            </a:pPr>
            <a:r>
              <a:rPr lang="en-US" sz="2000" dirty="0">
                <a:solidFill>
                  <a:srgbClr val="14201F"/>
                </a:solidFill>
                <a:latin typeface="Helvetica" pitchFamily="34" charset="0"/>
                <a:ea typeface="Helvetica" pitchFamily="34" charset="-122"/>
                <a:cs typeface="Helvetica" pitchFamily="34" charset="-120"/>
              </a:rPr>
              <a:t>[What we would design differently]</a:t>
            </a:r>
            <a:endParaRPr lang="en-US" sz="2000" dirty="0"/>
          </a:p>
        </p:txBody>
      </p:sp>
      <p:sp>
        <p:nvSpPr>
          <p:cNvPr id="5" name="Text 3"/>
          <p:cNvSpPr/>
          <p:nvPr/>
        </p:nvSpPr>
        <p:spPr>
          <a:xfrm>
            <a:off x="812800" y="6238239"/>
            <a:ext cx="19722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0"/>
                </a:solidFill>
                <a:latin typeface="Helvetica" pitchFamily="34" charset="0"/>
                <a:ea typeface="Helvetica" pitchFamily="34" charset="-122"/>
                <a:cs typeface="Helvetica" pitchFamily="34" charset="-120"/>
              </a:rPr>
              <a:t>Automated sieving robot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01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0997B"/>
                </a:solidFill>
                <a:latin typeface="Helvetica" pitchFamily="34" charset="0"/>
                <a:ea typeface="Helvetica" pitchFamily="34" charset="-122"/>
                <a:cs typeface="Helvetica" pitchFamily="34" charset="-120"/>
              </a:rPr>
              <a:t>Outcome</a:t>
            </a:r>
            <a:endParaRPr lang="en-US" sz="1400" dirty="0"/>
          </a:p>
        </p:txBody>
      </p:sp>
      <p:sp>
        <p:nvSpPr>
          <p:cNvPr id="3" name="Text 1"/>
          <p:cNvSpPr/>
          <p:nvPr>
            <p:ph type="title"/>
          </p:nvPr>
        </p:nvSpPr>
        <p:spPr>
          <a:xfrm>
            <a:off x="812800" y="13665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6F5F0"/>
                </a:solidFill>
                <a:latin typeface="Helvetica" pitchFamily="34" charset="0"/>
                <a:ea typeface="Helvetica" pitchFamily="34" charset="-122"/>
                <a:cs typeface="Helvetica" pitchFamily="34" charset="-120"/>
              </a:rPr>
              <a:t>Future work</a:t>
            </a:r>
            <a:endParaRPr lang="en-US" sz="3600" dirty="0"/>
          </a:p>
        </p:txBody>
      </p:sp>
      <p:sp>
        <p:nvSpPr>
          <p:cNvPr id="4" name="Text 2"/>
          <p:cNvSpPr/>
          <p:nvPr/>
        </p:nvSpPr>
        <p:spPr>
          <a:xfrm>
            <a:off x="854710" y="2174239"/>
            <a:ext cx="10833862" cy="1803400"/>
          </a:xfrm>
          <a:prstGeom prst="rect">
            <a:avLst/>
          </a:prstGeom>
          <a:noFill/>
          <a:ln/>
        </p:spPr>
        <p:txBody>
          <a:bodyPr wrap="square" lIns="0" tIns="0" rIns="0" bIns="0" rtlCol="0" anchor="t">
            <a:normAutofit/>
          </a:bodyPr>
          <a:lstStyle/>
          <a:p>
            <a:pPr algn="l" marL="212090" indent="-212090">
              <a:lnSpc>
                <a:spcPts val="2800"/>
              </a:lnSpc>
              <a:buSzPct val="100000"/>
              <a:buChar char="•"/>
            </a:pPr>
            <a:r>
              <a:rPr lang="en-US" sz="2000" dirty="0">
                <a:solidFill>
                  <a:srgbClr val="F6F5F0"/>
                </a:solidFill>
                <a:latin typeface="Helvetica" pitchFamily="34" charset="0"/>
                <a:ea typeface="Helvetica" pitchFamily="34" charset="-122"/>
                <a:cs typeface="Helvetica" pitchFamily="34" charset="-120"/>
              </a:rPr>
              <a:t>Motorized shaker, with the arm only moving trays</a:t>
            </a:r>
            <a:endParaRPr lang="en-US" sz="2000" dirty="0"/>
          </a:p>
          <a:p>
            <a:pPr algn="l" marL="212090" indent="-212090">
              <a:lnSpc>
                <a:spcPts val="2800"/>
              </a:lnSpc>
              <a:buSzPct val="100000"/>
              <a:buChar char="•"/>
            </a:pPr>
            <a:r>
              <a:rPr lang="en-US" sz="2000" dirty="0">
                <a:solidFill>
                  <a:srgbClr val="F6F5F0"/>
                </a:solidFill>
                <a:latin typeface="Helvetica" pitchFamily="34" charset="0"/>
                <a:ea typeface="Helvetica" pitchFamily="34" charset="-122"/>
                <a:cs typeface="Helvetica" pitchFamily="34" charset="-120"/>
              </a:rPr>
              <a:t>Validate purity against hand-sorted or weighed trays</a:t>
            </a:r>
            <a:endParaRPr lang="en-US" sz="2000" dirty="0"/>
          </a:p>
          <a:p>
            <a:pPr algn="l" marL="212090" indent="-212090">
              <a:lnSpc>
                <a:spcPts val="2800"/>
              </a:lnSpc>
              <a:buSzPct val="100000"/>
              <a:buChar char="•"/>
            </a:pPr>
            <a:r>
              <a:rPr lang="en-US" sz="2000" dirty="0">
                <a:solidFill>
                  <a:srgbClr val="F6F5F0"/>
                </a:solidFill>
                <a:latin typeface="Helvetica" pitchFamily="34" charset="0"/>
                <a:ea typeface="Helvetica" pitchFamily="34" charset="-122"/>
                <a:cs typeface="Helvetica" pitchFamily="34" charset="-120"/>
              </a:rPr>
              <a:t>Load cell for mass balance and loss checks</a:t>
            </a:r>
            <a:endParaRPr lang="en-US" sz="2000" dirty="0"/>
          </a:p>
          <a:p>
            <a:pPr algn="l" marL="212090" indent="-212090">
              <a:lnSpc>
                <a:spcPts val="2800"/>
              </a:lnSpc>
              <a:buSzPct val="100000"/>
              <a:buChar char="•"/>
            </a:pPr>
            <a:r>
              <a:rPr lang="en-US" sz="2000" dirty="0">
                <a:solidFill>
                  <a:srgbClr val="F6F5F0"/>
                </a:solidFill>
                <a:latin typeface="Helvetica" pitchFamily="34" charset="0"/>
                <a:ea typeface="Helvetica" pitchFamily="34" charset="-122"/>
                <a:cs typeface="Helvetica" pitchFamily="34" charset="-120"/>
              </a:rPr>
              <a:t>Train classifier for bugs versus dirt</a:t>
            </a:r>
            <a:endParaRPr lang="en-US" sz="2000" dirty="0"/>
          </a:p>
          <a:p>
            <a:pPr algn="l" marL="212090" indent="-212090">
              <a:lnSpc>
                <a:spcPts val="2800"/>
              </a:lnSpc>
              <a:buSzPct val="100000"/>
              <a:buChar char="•"/>
            </a:pPr>
            <a:r>
              <a:rPr lang="en-US" sz="2000" dirty="0">
                <a:solidFill>
                  <a:srgbClr val="F6F5F0"/>
                </a:solidFill>
                <a:latin typeface="Helvetica" pitchFamily="34" charset="0"/>
                <a:ea typeface="Helvetica" pitchFamily="34" charset="-122"/>
                <a:cs typeface="Helvetica" pitchFamily="34" charset="-120"/>
              </a:rPr>
              <a:t>[Add your own]</a:t>
            </a:r>
            <a:endParaRPr lang="en-US" sz="2000" dirty="0"/>
          </a:p>
        </p:txBody>
      </p:sp>
      <p:sp>
        <p:nvSpPr>
          <p:cNvPr id="5" name="Text 3"/>
          <p:cNvSpPr/>
          <p:nvPr/>
        </p:nvSpPr>
        <p:spPr>
          <a:xfrm>
            <a:off x="812800" y="6238242"/>
            <a:ext cx="197224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9E"/>
                </a:solidFill>
                <a:latin typeface="Helvetica" pitchFamily="34" charset="0"/>
                <a:ea typeface="Helvetica" pitchFamily="34" charset="-122"/>
                <a:cs typeface="Helvetica" pitchFamily="34" charset="-120"/>
              </a:rPr>
              <a:t>Automated sieving robot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201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DCAA5"/>
                </a:solidFill>
                <a:latin typeface="Helvetica" pitchFamily="34" charset="0"/>
                <a:ea typeface="Helvetica" pitchFamily="34" charset="-122"/>
                <a:cs typeface="Helvetica" pitchFamily="34" charset="-120"/>
              </a:rPr>
              <a:t>Hackathon pitch</a:t>
            </a:r>
            <a:endParaRPr lang="en-US" sz="1400" dirty="0"/>
          </a:p>
        </p:txBody>
      </p:sp>
      <p:sp>
        <p:nvSpPr>
          <p:cNvPr id="3" name="Text 1"/>
          <p:cNvSpPr/>
          <p:nvPr>
            <p:ph type="title"/>
          </p:nvPr>
        </p:nvSpPr>
        <p:spPr>
          <a:xfrm>
            <a:off x="812800" y="1315721"/>
            <a:ext cx="10883392" cy="878840"/>
          </a:xfrm>
          <a:prstGeom prst="rect">
            <a:avLst/>
          </a:prstGeom>
          <a:noFill/>
          <a:ln/>
        </p:spPr>
        <p:txBody>
          <a:bodyPr wrap="square" lIns="0" tIns="0" rIns="0" bIns="0" rtlCol="0" anchor="t">
            <a:normAutofit/>
          </a:bodyPr>
          <a:lstStyle/>
          <a:p>
            <a:pPr algn="l" indent="0" marL="0">
              <a:lnSpc>
                <a:spcPts val="6720"/>
              </a:lnSpc>
              <a:buNone/>
            </a:pPr>
            <a:r>
              <a:rPr lang="en-US" sz="6400" b="0" i="0" dirty="0">
                <a:solidFill>
                  <a:srgbClr val="F6F5F0"/>
                </a:solidFill>
                <a:latin typeface="Helvetica" pitchFamily="34" charset="0"/>
                <a:ea typeface="Helvetica" pitchFamily="34" charset="-122"/>
                <a:cs typeface="Helvetica" pitchFamily="34" charset="-120"/>
              </a:rPr>
              <a:t>Bags in, barcodes out</a:t>
            </a:r>
            <a:endParaRPr lang="en-US" sz="6400" dirty="0"/>
          </a:p>
        </p:txBody>
      </p:sp>
      <p:sp>
        <p:nvSpPr>
          <p:cNvPr id="4" name="Text 2"/>
          <p:cNvSpPr/>
          <p:nvPr/>
        </p:nvSpPr>
        <p:spPr>
          <a:xfrm>
            <a:off x="812800" y="2423164"/>
            <a:ext cx="10883392"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B4B9B6"/>
                </a:solidFill>
                <a:latin typeface="Helvetica" pitchFamily="34" charset="0"/>
                <a:ea typeface="Helvetica" pitchFamily="34" charset="-122"/>
                <a:cs typeface="Helvetica" pitchFamily="34" charset="-120"/>
              </a:rPr>
              <a:t>Camera-guided insect sieving for BioKEA Track A</a:t>
            </a:r>
            <a:endParaRPr lang="en-US" sz="2000" dirty="0"/>
          </a:p>
        </p:txBody>
      </p:sp>
      <p:pic>
        <p:nvPicPr>
          <p:cNvPr id="5" name="Image 0" descr="Flow from a bag of mixed specimens through camera sizing and sieves to barcoded wells">    </p:cNvPr>
          <p:cNvPicPr>
            <a:picLocks noChangeAspect="1"/>
          </p:cNvPicPr>
          <p:nvPr/>
        </p:nvPicPr>
        <p:blipFill>
          <a:blip r:embed="rId1"/>
          <a:srcRect l="0" r="0" t="0" b="0"/>
          <a:stretch/>
        </p:blipFill>
        <p:spPr>
          <a:xfrm>
            <a:off x="812800" y="3032764"/>
            <a:ext cx="10566400" cy="1981200"/>
          </a:xfrm>
          <a:prstGeom prst="rect">
            <a:avLst/>
          </a:prstGeom>
        </p:spPr>
      </p:pic>
      <p:sp>
        <p:nvSpPr>
          <p:cNvPr id="6" name="Text 3"/>
          <p:cNvSpPr/>
          <p:nvPr/>
        </p:nvSpPr>
        <p:spPr>
          <a:xfrm>
            <a:off x="812800" y="6238242"/>
            <a:ext cx="34328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9E"/>
                </a:solidFill>
                <a:latin typeface="Helvetica" pitchFamily="34" charset="0"/>
                <a:ea typeface="Helvetica" pitchFamily="34" charset="-122"/>
                <a:cs typeface="Helvetica" pitchFamily="34" charset="-120"/>
              </a:rPr>
              <a:t>Automated sieving robot | Hackathon pitch</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6E56"/>
                </a:solidFill>
                <a:latin typeface="Helvetica" pitchFamily="34" charset="0"/>
                <a:ea typeface="Helvetica" pitchFamily="34" charset="-122"/>
                <a:cs typeface="Helvetica" pitchFamily="34" charset="-120"/>
              </a:rPr>
              <a:t>How it works</a:t>
            </a:r>
            <a:endParaRPr lang="en-US" sz="1400" dirty="0"/>
          </a:p>
        </p:txBody>
      </p:sp>
      <p:sp>
        <p:nvSpPr>
          <p:cNvPr id="3" name="Text 1"/>
          <p:cNvSpPr/>
          <p:nvPr>
            <p:ph type="title"/>
          </p:nvPr>
        </p:nvSpPr>
        <p:spPr>
          <a:xfrm>
            <a:off x="812800" y="13157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Helvetica" pitchFamily="34" charset="0"/>
                <a:ea typeface="Helvetica" pitchFamily="34" charset="-122"/>
                <a:cs typeface="Helvetica" pitchFamily="34" charset="-120"/>
              </a:rPr>
              <a:t>Six steps, each one checked</a:t>
            </a:r>
            <a:endParaRPr lang="en-US" sz="3600" dirty="0"/>
          </a:p>
        </p:txBody>
      </p:sp>
      <p:sp>
        <p:nvSpPr>
          <p:cNvPr id="4" name="Shape 2"/>
          <p:cNvSpPr/>
          <p:nvPr/>
        </p:nvSpPr>
        <p:spPr>
          <a:xfrm>
            <a:off x="812800" y="2072642"/>
            <a:ext cx="1655207" cy="1725930"/>
          </a:xfrm>
          <a:prstGeom prst="roundRect">
            <a:avLst>
              <a:gd name="adj" fmla="val 4604"/>
            </a:avLst>
          </a:prstGeom>
          <a:solidFill>
            <a:srgbClr val="FFFFFF"/>
          </a:solidFill>
          <a:ln/>
        </p:spPr>
      </p:sp>
      <p:sp>
        <p:nvSpPr>
          <p:cNvPr id="5" name="Shape 3"/>
          <p:cNvSpPr/>
          <p:nvPr/>
        </p:nvSpPr>
        <p:spPr>
          <a:xfrm>
            <a:off x="812800" y="2072642"/>
            <a:ext cx="1655207" cy="1725930"/>
          </a:xfrm>
          <a:custGeom>
            <a:avLst/>
            <a:gdLst/>
            <a:ahLst/>
            <a:cxnLst/>
            <a:rect l="l" t="t" r="r" b="b"/>
            <a:pathLst>
              <a:path w="1655207" h="1725930">
                <a:moveTo>
                  <a:pt x="0" y="76200"/>
                </a:moveTo>
                <a:lnTo>
                  <a:pt x="0" y="76200"/>
                </a:lnTo>
                <a:arcTo hR="76200" wR="76200" stAng="10800000" swAng="5400000"/>
                <a:lnTo>
                  <a:pt x="1579007" y="0"/>
                </a:lnTo>
                <a:arcTo hR="76200" wR="76200" stAng="16200000" swAng="5400000"/>
                <a:lnTo>
                  <a:pt x="1655207" y="76200"/>
                </a:lnTo>
                <a:arcTo hR="25400" wR="76200" stAng="0" swAng="-5400000"/>
                <a:lnTo>
                  <a:pt x="76200" y="50800"/>
                </a:lnTo>
                <a:arcTo hR="25400" wR="76200" stAng="16200000" swAng="-5400000"/>
                <a:close/>
              </a:path>
            </a:pathLst>
          </a:custGeom>
          <a:solidFill>
            <a:srgbClr val="0F6E56"/>
          </a:solidFill>
          <a:ln/>
        </p:spPr>
      </p:sp>
      <p:sp>
        <p:nvSpPr>
          <p:cNvPr id="6" name="Text 4"/>
          <p:cNvSpPr/>
          <p:nvPr/>
        </p:nvSpPr>
        <p:spPr>
          <a:xfrm>
            <a:off x="990600" y="2301242"/>
            <a:ext cx="135040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Helvetica" pitchFamily="34" charset="0"/>
                <a:ea typeface="Helvetica" pitchFamily="34" charset="-122"/>
                <a:cs typeface="Helvetica" pitchFamily="34" charset="-120"/>
              </a:rPr>
              <a:t>01</a:t>
            </a:r>
            <a:endParaRPr lang="en-US" sz="1300" dirty="0"/>
          </a:p>
        </p:txBody>
      </p:sp>
      <p:sp>
        <p:nvSpPr>
          <p:cNvPr id="7" name="Text 5"/>
          <p:cNvSpPr/>
          <p:nvPr/>
        </p:nvSpPr>
        <p:spPr>
          <a:xfrm>
            <a:off x="990600" y="2621279"/>
            <a:ext cx="13504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Helvetica" pitchFamily="34" charset="0"/>
                <a:ea typeface="Helvetica" pitchFamily="34" charset="-122"/>
                <a:cs typeface="Helvetica" pitchFamily="34" charset="-120"/>
              </a:rPr>
              <a:t>Observe</a:t>
            </a:r>
            <a:endParaRPr lang="en-US" sz="1500" dirty="0"/>
          </a:p>
        </p:txBody>
      </p:sp>
      <p:sp>
        <p:nvSpPr>
          <p:cNvPr id="8" name="Text 6"/>
          <p:cNvSpPr/>
          <p:nvPr/>
        </p:nvSpPr>
        <p:spPr>
          <a:xfrm>
            <a:off x="990600" y="2976879"/>
            <a:ext cx="1350407"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Helvetica" pitchFamily="34" charset="0"/>
                <a:ea typeface="Helvetica" pitchFamily="34" charset="-122"/>
                <a:cs typeface="Helvetica" pitchFamily="34" charset="-120"/>
              </a:rPr>
              <a:t>Camera and two sizers measure every body</a:t>
            </a:r>
            <a:endParaRPr lang="en-US" sz="1300" dirty="0"/>
          </a:p>
        </p:txBody>
      </p:sp>
      <p:sp>
        <p:nvSpPr>
          <p:cNvPr id="9" name="Shape 7"/>
          <p:cNvSpPr/>
          <p:nvPr/>
        </p:nvSpPr>
        <p:spPr>
          <a:xfrm>
            <a:off x="2595007" y="2072642"/>
            <a:ext cx="1655286" cy="1725930"/>
          </a:xfrm>
          <a:prstGeom prst="roundRect">
            <a:avLst>
              <a:gd name="adj" fmla="val 4603"/>
            </a:avLst>
          </a:prstGeom>
          <a:solidFill>
            <a:srgbClr val="FFFFFF"/>
          </a:solidFill>
          <a:ln/>
        </p:spPr>
      </p:sp>
      <p:sp>
        <p:nvSpPr>
          <p:cNvPr id="10" name="Shape 8"/>
          <p:cNvSpPr/>
          <p:nvPr/>
        </p:nvSpPr>
        <p:spPr>
          <a:xfrm>
            <a:off x="2595007" y="2072642"/>
            <a:ext cx="1655286" cy="1725930"/>
          </a:xfrm>
          <a:custGeom>
            <a:avLst/>
            <a:gdLst/>
            <a:ahLst/>
            <a:cxnLst/>
            <a:rect l="l" t="t" r="r" b="b"/>
            <a:pathLst>
              <a:path w="1655286" h="1725930">
                <a:moveTo>
                  <a:pt x="0" y="76200"/>
                </a:moveTo>
                <a:lnTo>
                  <a:pt x="0" y="76200"/>
                </a:lnTo>
                <a:arcTo hR="76200" wR="76200" stAng="10800000" swAng="5400000"/>
                <a:lnTo>
                  <a:pt x="1579086" y="0"/>
                </a:lnTo>
                <a:arcTo hR="76200" wR="76200" stAng="16200000" swAng="5400000"/>
                <a:lnTo>
                  <a:pt x="1655286" y="76200"/>
                </a:lnTo>
                <a:arcTo hR="25400" wR="76200" stAng="0" swAng="-5400000"/>
                <a:lnTo>
                  <a:pt x="76200" y="50800"/>
                </a:lnTo>
                <a:arcTo hR="25400" wR="76200" stAng="16200000" swAng="-5400000"/>
                <a:close/>
              </a:path>
            </a:pathLst>
          </a:custGeom>
          <a:solidFill>
            <a:srgbClr val="0F6E56"/>
          </a:solidFill>
          <a:ln/>
        </p:spPr>
      </p:sp>
      <p:sp>
        <p:nvSpPr>
          <p:cNvPr id="11" name="Text 9"/>
          <p:cNvSpPr/>
          <p:nvPr/>
        </p:nvSpPr>
        <p:spPr>
          <a:xfrm>
            <a:off x="2772807" y="2301242"/>
            <a:ext cx="135048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Helvetica" pitchFamily="34" charset="0"/>
                <a:ea typeface="Helvetica" pitchFamily="34" charset="-122"/>
                <a:cs typeface="Helvetica" pitchFamily="34" charset="-120"/>
              </a:rPr>
              <a:t>02</a:t>
            </a:r>
            <a:endParaRPr lang="en-US" sz="1300" dirty="0"/>
          </a:p>
        </p:txBody>
      </p:sp>
      <p:sp>
        <p:nvSpPr>
          <p:cNvPr id="12" name="Text 10"/>
          <p:cNvSpPr/>
          <p:nvPr/>
        </p:nvSpPr>
        <p:spPr>
          <a:xfrm>
            <a:off x="2772807" y="2621279"/>
            <a:ext cx="13504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Helvetica" pitchFamily="34" charset="0"/>
                <a:ea typeface="Helvetica" pitchFamily="34" charset="-122"/>
                <a:cs typeface="Helvetica" pitchFamily="34" charset="-120"/>
              </a:rPr>
              <a:t>Hypothesize</a:t>
            </a:r>
            <a:endParaRPr lang="en-US" sz="1500" dirty="0"/>
          </a:p>
        </p:txBody>
      </p:sp>
      <p:sp>
        <p:nvSpPr>
          <p:cNvPr id="13" name="Text 11"/>
          <p:cNvSpPr/>
          <p:nvPr/>
        </p:nvSpPr>
        <p:spPr>
          <a:xfrm>
            <a:off x="2772807" y="2976879"/>
            <a:ext cx="135048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Helvetica" pitchFamily="34" charset="0"/>
                <a:ea typeface="Helvetica" pitchFamily="34" charset="-122"/>
                <a:cs typeface="Helvetica" pitchFamily="34" charset="-120"/>
              </a:rPr>
              <a:t>Pick sieve stack and water flow</a:t>
            </a:r>
            <a:endParaRPr lang="en-US" sz="1300" dirty="0"/>
          </a:p>
        </p:txBody>
      </p:sp>
      <p:sp>
        <p:nvSpPr>
          <p:cNvPr id="14" name="Shape 12"/>
          <p:cNvSpPr/>
          <p:nvPr/>
        </p:nvSpPr>
        <p:spPr>
          <a:xfrm>
            <a:off x="4377293" y="2072642"/>
            <a:ext cx="1655207" cy="1725930"/>
          </a:xfrm>
          <a:prstGeom prst="roundRect">
            <a:avLst>
              <a:gd name="adj" fmla="val 4604"/>
            </a:avLst>
          </a:prstGeom>
          <a:solidFill>
            <a:srgbClr val="FFFFFF"/>
          </a:solidFill>
          <a:ln/>
        </p:spPr>
      </p:sp>
      <p:sp>
        <p:nvSpPr>
          <p:cNvPr id="15" name="Shape 13"/>
          <p:cNvSpPr/>
          <p:nvPr/>
        </p:nvSpPr>
        <p:spPr>
          <a:xfrm>
            <a:off x="4377293" y="2072642"/>
            <a:ext cx="1655207" cy="1725930"/>
          </a:xfrm>
          <a:custGeom>
            <a:avLst/>
            <a:gdLst/>
            <a:ahLst/>
            <a:cxnLst/>
            <a:rect l="l" t="t" r="r" b="b"/>
            <a:pathLst>
              <a:path w="1655207" h="1725930">
                <a:moveTo>
                  <a:pt x="0" y="76200"/>
                </a:moveTo>
                <a:lnTo>
                  <a:pt x="0" y="76200"/>
                </a:lnTo>
                <a:arcTo hR="76200" wR="76200" stAng="10800000" swAng="5400000"/>
                <a:lnTo>
                  <a:pt x="1579007" y="0"/>
                </a:lnTo>
                <a:arcTo hR="76200" wR="76200" stAng="16200000" swAng="5400000"/>
                <a:lnTo>
                  <a:pt x="1655207" y="76200"/>
                </a:lnTo>
                <a:arcTo hR="25400" wR="76200" stAng="0" swAng="-5400000"/>
                <a:lnTo>
                  <a:pt x="76200" y="50800"/>
                </a:lnTo>
                <a:arcTo hR="25400" wR="76200" stAng="16200000" swAng="-5400000"/>
                <a:close/>
              </a:path>
            </a:pathLst>
          </a:custGeom>
          <a:solidFill>
            <a:srgbClr val="0F6E56"/>
          </a:solidFill>
          <a:ln/>
        </p:spPr>
      </p:sp>
      <p:sp>
        <p:nvSpPr>
          <p:cNvPr id="16" name="Text 14"/>
          <p:cNvSpPr/>
          <p:nvPr/>
        </p:nvSpPr>
        <p:spPr>
          <a:xfrm>
            <a:off x="4555093" y="2301242"/>
            <a:ext cx="135040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Helvetica" pitchFamily="34" charset="0"/>
                <a:ea typeface="Helvetica" pitchFamily="34" charset="-122"/>
                <a:cs typeface="Helvetica" pitchFamily="34" charset="-120"/>
              </a:rPr>
              <a:t>03</a:t>
            </a:r>
            <a:endParaRPr lang="en-US" sz="1300" dirty="0"/>
          </a:p>
        </p:txBody>
      </p:sp>
      <p:sp>
        <p:nvSpPr>
          <p:cNvPr id="17" name="Text 15"/>
          <p:cNvSpPr/>
          <p:nvPr/>
        </p:nvSpPr>
        <p:spPr>
          <a:xfrm>
            <a:off x="4555093" y="2621279"/>
            <a:ext cx="13504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Helvetica" pitchFamily="34" charset="0"/>
                <a:ea typeface="Helvetica" pitchFamily="34" charset="-122"/>
                <a:cs typeface="Helvetica" pitchFamily="34" charset="-120"/>
              </a:rPr>
              <a:t>Preflight</a:t>
            </a:r>
            <a:endParaRPr lang="en-US" sz="1500" dirty="0"/>
          </a:p>
        </p:txBody>
      </p:sp>
      <p:sp>
        <p:nvSpPr>
          <p:cNvPr id="18" name="Text 16"/>
          <p:cNvSpPr/>
          <p:nvPr/>
        </p:nvSpPr>
        <p:spPr>
          <a:xfrm>
            <a:off x="4555093" y="2976879"/>
            <a:ext cx="1350407"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Helvetica" pitchFamily="34" charset="0"/>
                <a:ea typeface="Helvetica" pitchFamily="34" charset="-122"/>
                <a:cs typeface="Helvetica" pitchFamily="34" charset="-120"/>
              </a:rPr>
              <a:t>Digital twin must pass</a:t>
            </a:r>
            <a:endParaRPr lang="en-US" sz="1300" dirty="0"/>
          </a:p>
        </p:txBody>
      </p:sp>
      <p:sp>
        <p:nvSpPr>
          <p:cNvPr id="19" name="Shape 17"/>
          <p:cNvSpPr/>
          <p:nvPr/>
        </p:nvSpPr>
        <p:spPr>
          <a:xfrm>
            <a:off x="6159500" y="2072642"/>
            <a:ext cx="1655286" cy="1725930"/>
          </a:xfrm>
          <a:prstGeom prst="roundRect">
            <a:avLst>
              <a:gd name="adj" fmla="val 4603"/>
            </a:avLst>
          </a:prstGeom>
          <a:solidFill>
            <a:srgbClr val="FFFFFF"/>
          </a:solidFill>
          <a:ln/>
        </p:spPr>
      </p:sp>
      <p:sp>
        <p:nvSpPr>
          <p:cNvPr id="20" name="Shape 18"/>
          <p:cNvSpPr/>
          <p:nvPr/>
        </p:nvSpPr>
        <p:spPr>
          <a:xfrm>
            <a:off x="6159500" y="2072642"/>
            <a:ext cx="1655286" cy="1725930"/>
          </a:xfrm>
          <a:custGeom>
            <a:avLst/>
            <a:gdLst/>
            <a:ahLst/>
            <a:cxnLst/>
            <a:rect l="l" t="t" r="r" b="b"/>
            <a:pathLst>
              <a:path w="1655286" h="1725930">
                <a:moveTo>
                  <a:pt x="0" y="76200"/>
                </a:moveTo>
                <a:lnTo>
                  <a:pt x="0" y="76200"/>
                </a:lnTo>
                <a:arcTo hR="76200" wR="76200" stAng="10800000" swAng="5400000"/>
                <a:lnTo>
                  <a:pt x="1579086" y="0"/>
                </a:lnTo>
                <a:arcTo hR="76200" wR="76200" stAng="16200000" swAng="5400000"/>
                <a:lnTo>
                  <a:pt x="1655286" y="76200"/>
                </a:lnTo>
                <a:arcTo hR="25400" wR="76200" stAng="0" swAng="-5400000"/>
                <a:lnTo>
                  <a:pt x="76200" y="50800"/>
                </a:lnTo>
                <a:arcTo hR="25400" wR="76200" stAng="16200000" swAng="-5400000"/>
                <a:close/>
              </a:path>
            </a:pathLst>
          </a:custGeom>
          <a:solidFill>
            <a:srgbClr val="B8481F"/>
          </a:solidFill>
          <a:ln/>
        </p:spPr>
      </p:sp>
      <p:sp>
        <p:nvSpPr>
          <p:cNvPr id="21" name="Text 19"/>
          <p:cNvSpPr/>
          <p:nvPr/>
        </p:nvSpPr>
        <p:spPr>
          <a:xfrm>
            <a:off x="6337300" y="2301242"/>
            <a:ext cx="1350486"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81F"/>
                </a:solidFill>
                <a:latin typeface="Helvetica" pitchFamily="34" charset="0"/>
                <a:ea typeface="Helvetica" pitchFamily="34" charset="-122"/>
                <a:cs typeface="Helvetica" pitchFamily="34" charset="-120"/>
              </a:rPr>
              <a:t>04</a:t>
            </a:r>
            <a:endParaRPr lang="en-US" sz="1300" dirty="0"/>
          </a:p>
        </p:txBody>
      </p:sp>
      <p:sp>
        <p:nvSpPr>
          <p:cNvPr id="22" name="Text 20"/>
          <p:cNvSpPr/>
          <p:nvPr/>
        </p:nvSpPr>
        <p:spPr>
          <a:xfrm>
            <a:off x="6337300" y="2621279"/>
            <a:ext cx="135048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Helvetica" pitchFamily="34" charset="0"/>
                <a:ea typeface="Helvetica" pitchFamily="34" charset="-122"/>
                <a:cs typeface="Helvetica" pitchFamily="34" charset="-120"/>
              </a:rPr>
              <a:t>Run</a:t>
            </a:r>
            <a:endParaRPr lang="en-US" sz="1500" dirty="0"/>
          </a:p>
        </p:txBody>
      </p:sp>
      <p:sp>
        <p:nvSpPr>
          <p:cNvPr id="23" name="Text 21"/>
          <p:cNvSpPr/>
          <p:nvPr/>
        </p:nvSpPr>
        <p:spPr>
          <a:xfrm>
            <a:off x="6337300" y="2976879"/>
            <a:ext cx="1350486"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Helvetica" pitchFamily="34" charset="0"/>
                <a:ea typeface="Helvetica" pitchFamily="34" charset="-122"/>
                <a:cs typeface="Helvetica" pitchFamily="34" charset="-120"/>
              </a:rPr>
              <a:t>Arm places sieves, water rinses</a:t>
            </a:r>
            <a:endParaRPr lang="en-US" sz="1300" dirty="0"/>
          </a:p>
        </p:txBody>
      </p:sp>
      <p:sp>
        <p:nvSpPr>
          <p:cNvPr id="24" name="Shape 22"/>
          <p:cNvSpPr/>
          <p:nvPr/>
        </p:nvSpPr>
        <p:spPr>
          <a:xfrm>
            <a:off x="7941787" y="2072642"/>
            <a:ext cx="1655207" cy="1725930"/>
          </a:xfrm>
          <a:prstGeom prst="roundRect">
            <a:avLst>
              <a:gd name="adj" fmla="val 4604"/>
            </a:avLst>
          </a:prstGeom>
          <a:solidFill>
            <a:srgbClr val="FFFFFF"/>
          </a:solidFill>
          <a:ln/>
        </p:spPr>
      </p:sp>
      <p:sp>
        <p:nvSpPr>
          <p:cNvPr id="25" name="Shape 23"/>
          <p:cNvSpPr/>
          <p:nvPr/>
        </p:nvSpPr>
        <p:spPr>
          <a:xfrm>
            <a:off x="7941787" y="2072642"/>
            <a:ext cx="1655207" cy="1725930"/>
          </a:xfrm>
          <a:custGeom>
            <a:avLst/>
            <a:gdLst/>
            <a:ahLst/>
            <a:cxnLst/>
            <a:rect l="l" t="t" r="r" b="b"/>
            <a:pathLst>
              <a:path w="1655207" h="1725930">
                <a:moveTo>
                  <a:pt x="0" y="76200"/>
                </a:moveTo>
                <a:lnTo>
                  <a:pt x="0" y="76200"/>
                </a:lnTo>
                <a:arcTo hR="76200" wR="76200" stAng="10800000" swAng="5400000"/>
                <a:lnTo>
                  <a:pt x="1579007" y="0"/>
                </a:lnTo>
                <a:arcTo hR="76200" wR="76200" stAng="16200000" swAng="5400000"/>
                <a:lnTo>
                  <a:pt x="1655207" y="76200"/>
                </a:lnTo>
                <a:arcTo hR="25400" wR="76200" stAng="0" swAng="-5400000"/>
                <a:lnTo>
                  <a:pt x="76200" y="50800"/>
                </a:lnTo>
                <a:arcTo hR="25400" wR="76200" stAng="16200000" swAng="-5400000"/>
                <a:close/>
              </a:path>
            </a:pathLst>
          </a:custGeom>
          <a:solidFill>
            <a:srgbClr val="0F6E56"/>
          </a:solidFill>
          <a:ln/>
        </p:spPr>
      </p:sp>
      <p:sp>
        <p:nvSpPr>
          <p:cNvPr id="26" name="Text 24"/>
          <p:cNvSpPr/>
          <p:nvPr/>
        </p:nvSpPr>
        <p:spPr>
          <a:xfrm>
            <a:off x="8119587" y="2301242"/>
            <a:ext cx="135040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F6E56"/>
                </a:solidFill>
                <a:latin typeface="Helvetica" pitchFamily="34" charset="0"/>
                <a:ea typeface="Helvetica" pitchFamily="34" charset="-122"/>
                <a:cs typeface="Helvetica" pitchFamily="34" charset="-120"/>
              </a:rPr>
              <a:t>05</a:t>
            </a:r>
            <a:endParaRPr lang="en-US" sz="1300" dirty="0"/>
          </a:p>
        </p:txBody>
      </p:sp>
      <p:sp>
        <p:nvSpPr>
          <p:cNvPr id="27" name="Text 25"/>
          <p:cNvSpPr/>
          <p:nvPr/>
        </p:nvSpPr>
        <p:spPr>
          <a:xfrm>
            <a:off x="8119587" y="2621279"/>
            <a:ext cx="13504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Helvetica" pitchFamily="34" charset="0"/>
                <a:ea typeface="Helvetica" pitchFamily="34" charset="-122"/>
                <a:cs typeface="Helvetica" pitchFamily="34" charset="-120"/>
              </a:rPr>
              <a:t>Verify</a:t>
            </a:r>
            <a:endParaRPr lang="en-US" sz="1500" dirty="0"/>
          </a:p>
        </p:txBody>
      </p:sp>
      <p:sp>
        <p:nvSpPr>
          <p:cNvPr id="28" name="Text 26"/>
          <p:cNvSpPr/>
          <p:nvPr/>
        </p:nvSpPr>
        <p:spPr>
          <a:xfrm>
            <a:off x="8119587" y="2976879"/>
            <a:ext cx="1350407"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Helvetica" pitchFamily="34" charset="0"/>
                <a:ea typeface="Helvetica" pitchFamily="34" charset="-122"/>
                <a:cs typeface="Helvetica" pitchFamily="34" charset="-120"/>
              </a:rPr>
              <a:t>Image each fraction, update margin</a:t>
            </a:r>
            <a:endParaRPr lang="en-US" sz="1300" dirty="0"/>
          </a:p>
        </p:txBody>
      </p:sp>
      <p:sp>
        <p:nvSpPr>
          <p:cNvPr id="29" name="Shape 27"/>
          <p:cNvSpPr/>
          <p:nvPr/>
        </p:nvSpPr>
        <p:spPr>
          <a:xfrm>
            <a:off x="9723993" y="2072642"/>
            <a:ext cx="1655207" cy="1725930"/>
          </a:xfrm>
          <a:prstGeom prst="roundRect">
            <a:avLst>
              <a:gd name="adj" fmla="val 4604"/>
            </a:avLst>
          </a:prstGeom>
          <a:solidFill>
            <a:srgbClr val="FFFFFF"/>
          </a:solidFill>
          <a:ln/>
        </p:spPr>
      </p:sp>
      <p:sp>
        <p:nvSpPr>
          <p:cNvPr id="30" name="Shape 28"/>
          <p:cNvSpPr/>
          <p:nvPr/>
        </p:nvSpPr>
        <p:spPr>
          <a:xfrm>
            <a:off x="9723993" y="2072642"/>
            <a:ext cx="1655207" cy="1725930"/>
          </a:xfrm>
          <a:custGeom>
            <a:avLst/>
            <a:gdLst/>
            <a:ahLst/>
            <a:cxnLst/>
            <a:rect l="l" t="t" r="r" b="b"/>
            <a:pathLst>
              <a:path w="1655207" h="1725930">
                <a:moveTo>
                  <a:pt x="0" y="76200"/>
                </a:moveTo>
                <a:lnTo>
                  <a:pt x="0" y="76200"/>
                </a:lnTo>
                <a:arcTo hR="76200" wR="76200" stAng="10800000" swAng="5400000"/>
                <a:lnTo>
                  <a:pt x="1579007" y="0"/>
                </a:lnTo>
                <a:arcTo hR="76200" wR="76200" stAng="16200000" swAng="5400000"/>
                <a:lnTo>
                  <a:pt x="1655207" y="76200"/>
                </a:lnTo>
                <a:arcTo hR="25400" wR="76200" stAng="0" swAng="-5400000"/>
                <a:lnTo>
                  <a:pt x="76200" y="50800"/>
                </a:lnTo>
                <a:arcTo hR="25400" wR="76200" stAng="16200000" swAng="-5400000"/>
                <a:close/>
              </a:path>
            </a:pathLst>
          </a:custGeom>
          <a:solidFill>
            <a:srgbClr val="B8481F"/>
          </a:solidFill>
          <a:ln/>
        </p:spPr>
      </p:sp>
      <p:sp>
        <p:nvSpPr>
          <p:cNvPr id="31" name="Text 29"/>
          <p:cNvSpPr/>
          <p:nvPr/>
        </p:nvSpPr>
        <p:spPr>
          <a:xfrm>
            <a:off x="9901793" y="2301242"/>
            <a:ext cx="135040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B8481F"/>
                </a:solidFill>
                <a:latin typeface="Helvetica" pitchFamily="34" charset="0"/>
                <a:ea typeface="Helvetica" pitchFamily="34" charset="-122"/>
                <a:cs typeface="Helvetica" pitchFamily="34" charset="-120"/>
              </a:rPr>
              <a:t>06</a:t>
            </a:r>
            <a:endParaRPr lang="en-US" sz="1300" dirty="0"/>
          </a:p>
        </p:txBody>
      </p:sp>
      <p:sp>
        <p:nvSpPr>
          <p:cNvPr id="32" name="Text 30"/>
          <p:cNvSpPr/>
          <p:nvPr/>
        </p:nvSpPr>
        <p:spPr>
          <a:xfrm>
            <a:off x="9901793" y="2621279"/>
            <a:ext cx="1350407"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01F"/>
                </a:solidFill>
                <a:latin typeface="Helvetica" pitchFamily="34" charset="0"/>
                <a:ea typeface="Helvetica" pitchFamily="34" charset="-122"/>
                <a:cs typeface="Helvetica" pitchFamily="34" charset="-120"/>
              </a:rPr>
              <a:t>Hand off</a:t>
            </a:r>
            <a:endParaRPr lang="en-US" sz="1500" dirty="0"/>
          </a:p>
        </p:txBody>
      </p:sp>
      <p:sp>
        <p:nvSpPr>
          <p:cNvPr id="33" name="Text 31"/>
          <p:cNvSpPr/>
          <p:nvPr/>
        </p:nvSpPr>
        <p:spPr>
          <a:xfrm>
            <a:off x="9901793" y="2976879"/>
            <a:ext cx="1350407" cy="66929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3D4745"/>
                </a:solidFill>
                <a:latin typeface="Helvetica" pitchFamily="34" charset="0"/>
                <a:ea typeface="Helvetica" pitchFamily="34" charset="-122"/>
                <a:cs typeface="Helvetica" pitchFamily="34" charset="-120"/>
              </a:rPr>
              <a:t>Files for BugPicker, then wells</a:t>
            </a:r>
            <a:endParaRPr lang="en-US" sz="1300" dirty="0"/>
          </a:p>
        </p:txBody>
      </p:sp>
      <p:sp>
        <p:nvSpPr>
          <p:cNvPr id="34" name="Text 32"/>
          <p:cNvSpPr/>
          <p:nvPr/>
        </p:nvSpPr>
        <p:spPr>
          <a:xfrm>
            <a:off x="812800" y="4052571"/>
            <a:ext cx="10566400" cy="708660"/>
          </a:xfrm>
          <a:prstGeom prst="roundRect">
            <a:avLst>
              <a:gd name="adj" fmla="val 14337"/>
            </a:avLst>
          </a:prstGeom>
          <a:solidFill>
            <a:srgbClr val="14201F"/>
          </a:solidFill>
          <a:ln/>
        </p:spPr>
        <p:txBody>
          <a:bodyPr wrap="square" lIns="224242" tIns="173442" rIns="224242" bIns="148042" rtlCol="0" anchor="t">
            <a:normAutofit/>
          </a:bodyPr>
          <a:lstStyle/>
          <a:p>
            <a:pPr algn="l" indent="0" marL="0">
              <a:lnSpc>
                <a:spcPts val="2380"/>
              </a:lnSpc>
              <a:buNone/>
            </a:pPr>
            <a:r>
              <a:rPr lang="en-US" sz="1700" dirty="0">
                <a:solidFill>
                  <a:srgbClr val="F6F5F0"/>
                </a:solidFill>
                <a:latin typeface="Helvetica" pitchFamily="34" charset="0"/>
                <a:ea typeface="Helvetica" pitchFamily="34" charset="-122"/>
                <a:cs typeface="Helvetica" pitchFamily="34" charset="-120"/>
              </a:rPr>
              <a:t>Every step is written to a hash-chained provenance log, per sample</a:t>
            </a:r>
            <a:endParaRPr lang="en-US" sz="1700" dirty="0"/>
          </a:p>
        </p:txBody>
      </p:sp>
      <p:sp>
        <p:nvSpPr>
          <p:cNvPr id="35" name="Text 33"/>
          <p:cNvSpPr/>
          <p:nvPr/>
        </p:nvSpPr>
        <p:spPr>
          <a:xfrm>
            <a:off x="812800" y="6238242"/>
            <a:ext cx="34328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0"/>
                </a:solidFill>
                <a:latin typeface="Helvetica" pitchFamily="34" charset="0"/>
                <a:ea typeface="Helvetica" pitchFamily="34" charset="-122"/>
                <a:cs typeface="Helvetica" pitchFamily="34" charset="-120"/>
              </a:rPr>
              <a:t>Automated sieving robot | Hackathon pitch</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6E56"/>
                </a:solidFill>
                <a:latin typeface="Helvetica" pitchFamily="34" charset="0"/>
                <a:ea typeface="Helvetica" pitchFamily="34" charset="-122"/>
                <a:cs typeface="Helvetica" pitchFamily="34" charset="-120"/>
              </a:rPr>
              <a:t>Observe</a:t>
            </a:r>
            <a:endParaRPr lang="en-US" sz="1400" dirty="0"/>
          </a:p>
        </p:txBody>
      </p:sp>
      <p:sp>
        <p:nvSpPr>
          <p:cNvPr id="3" name="Text 1"/>
          <p:cNvSpPr/>
          <p:nvPr>
            <p:ph type="title"/>
          </p:nvPr>
        </p:nvSpPr>
        <p:spPr>
          <a:xfrm>
            <a:off x="812800" y="12903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Helvetica" pitchFamily="34" charset="0"/>
                <a:ea typeface="Helvetica" pitchFamily="34" charset="-122"/>
                <a:cs typeface="Helvetica" pitchFamily="34" charset="-120"/>
              </a:rPr>
              <a:t>Two sizers must agree</a:t>
            </a:r>
            <a:endParaRPr lang="en-US" sz="3600" dirty="0"/>
          </a:p>
        </p:txBody>
      </p:sp>
      <p:pic>
        <p:nvPicPr>
          <p:cNvPr id="4" name="Image 0" descr="Specimens sized in millimetres by two independent methods, then compared: agreement goes to sieving, disagreement is flagged">    </p:cNvPr>
          <p:cNvPicPr>
            <a:picLocks noChangeAspect="1"/>
          </p:cNvPicPr>
          <p:nvPr/>
        </p:nvPicPr>
        <p:blipFill>
          <a:blip r:embed="rId1"/>
          <a:srcRect l="-22" r="-22" t="0" b="0"/>
          <a:stretch/>
        </p:blipFill>
        <p:spPr>
          <a:xfrm>
            <a:off x="812800" y="2021842"/>
            <a:ext cx="10566400" cy="3568700"/>
          </a:xfrm>
          <a:prstGeom prst="rect">
            <a:avLst/>
          </a:prstGeom>
        </p:spPr>
      </p:pic>
      <p:sp>
        <p:nvSpPr>
          <p:cNvPr id="5" name="Text 2"/>
          <p:cNvSpPr/>
          <p:nvPr/>
        </p:nvSpPr>
        <p:spPr>
          <a:xfrm>
            <a:off x="812800" y="6238242"/>
            <a:ext cx="34328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0"/>
                </a:solidFill>
                <a:latin typeface="Helvetica" pitchFamily="34" charset="0"/>
                <a:ea typeface="Helvetica" pitchFamily="34" charset="-122"/>
                <a:cs typeface="Helvetica" pitchFamily="34" charset="-120"/>
              </a:rPr>
              <a:t>Automated sieving robot | Hackathon pitch</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01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DCAA5"/>
                </a:solidFill>
                <a:latin typeface="Helvetica" pitchFamily="34" charset="0"/>
                <a:ea typeface="Helvetica" pitchFamily="34" charset="-122"/>
                <a:cs typeface="Helvetica" pitchFamily="34" charset="-120"/>
              </a:rPr>
              <a:t>Preflight</a:t>
            </a:r>
            <a:endParaRPr lang="en-US" sz="1400" dirty="0"/>
          </a:p>
        </p:txBody>
      </p:sp>
      <p:sp>
        <p:nvSpPr>
          <p:cNvPr id="3" name="Text 1"/>
          <p:cNvSpPr/>
          <p:nvPr>
            <p:ph type="title"/>
          </p:nvPr>
        </p:nvSpPr>
        <p:spPr>
          <a:xfrm>
            <a:off x="812800" y="13157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6F5F0"/>
                </a:solidFill>
                <a:latin typeface="Helvetica" pitchFamily="34" charset="0"/>
                <a:ea typeface="Helvetica" pitchFamily="34" charset="-122"/>
                <a:cs typeface="Helvetica" pitchFamily="34" charset="-120"/>
              </a:rPr>
              <a:t>Fail closed before hardware moves</a:t>
            </a:r>
            <a:endParaRPr lang="en-US" sz="3600" dirty="0"/>
          </a:p>
        </p:txBody>
      </p:sp>
      <p:pic>
        <p:nvPicPr>
          <p:cNvPr id="4" name="Image 0" descr="Digital twin checks four conditions; if all pass the arm moves, otherwise the plan is rejected">    </p:cNvPr>
          <p:cNvPicPr>
            <a:picLocks noChangeAspect="1"/>
          </p:cNvPicPr>
          <p:nvPr/>
        </p:nvPicPr>
        <p:blipFill>
          <a:blip r:embed="rId1"/>
          <a:srcRect l="0" r="0" t="-31" b="-31"/>
          <a:stretch/>
        </p:blipFill>
        <p:spPr>
          <a:xfrm>
            <a:off x="812800" y="2072642"/>
            <a:ext cx="10566400" cy="3175000"/>
          </a:xfrm>
          <a:prstGeom prst="rect">
            <a:avLst/>
          </a:prstGeom>
        </p:spPr>
      </p:pic>
      <p:sp>
        <p:nvSpPr>
          <p:cNvPr id="5" name="Text 2"/>
          <p:cNvSpPr/>
          <p:nvPr/>
        </p:nvSpPr>
        <p:spPr>
          <a:xfrm>
            <a:off x="812800" y="6238242"/>
            <a:ext cx="34328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19E"/>
                </a:solidFill>
                <a:latin typeface="Helvetica" pitchFamily="34" charset="0"/>
                <a:ea typeface="Helvetica" pitchFamily="34" charset="-122"/>
                <a:cs typeface="Helvetica" pitchFamily="34" charset="-120"/>
              </a:rPr>
              <a:t>Automated sieving robot | Hackathon pitch</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0"/>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0F6E56"/>
                </a:solidFill>
                <a:latin typeface="Helvetica" pitchFamily="34" charset="0"/>
                <a:ea typeface="Helvetica" pitchFamily="34" charset="-122"/>
                <a:cs typeface="Helvetica" pitchFamily="34" charset="-120"/>
              </a:rPr>
              <a:t>Status</a:t>
            </a:r>
            <a:endParaRPr lang="en-US" sz="1400" dirty="0"/>
          </a:p>
        </p:txBody>
      </p:sp>
      <p:sp>
        <p:nvSpPr>
          <p:cNvPr id="3" name="Text 1"/>
          <p:cNvSpPr/>
          <p:nvPr>
            <p:ph type="title"/>
          </p:nvPr>
        </p:nvSpPr>
        <p:spPr>
          <a:xfrm>
            <a:off x="812800" y="129032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4201F"/>
                </a:solidFill>
                <a:latin typeface="Helvetica" pitchFamily="34" charset="0"/>
                <a:ea typeface="Helvetica" pitchFamily="34" charset="-122"/>
                <a:cs typeface="Helvetica" pitchFamily="34" charset="-120"/>
              </a:rPr>
              <a:t>Built today, next on the bench</a:t>
            </a:r>
            <a:endParaRPr lang="en-US" sz="3600" dirty="0"/>
          </a:p>
        </p:txBody>
      </p:sp>
      <p:sp>
        <p:nvSpPr>
          <p:cNvPr id="4" name="Shape 2"/>
          <p:cNvSpPr/>
          <p:nvPr/>
        </p:nvSpPr>
        <p:spPr>
          <a:xfrm>
            <a:off x="812800" y="2021842"/>
            <a:ext cx="5207000" cy="2156460"/>
          </a:xfrm>
          <a:prstGeom prst="roundRect">
            <a:avLst>
              <a:gd name="adj" fmla="val 3534"/>
            </a:avLst>
          </a:prstGeom>
          <a:solidFill>
            <a:srgbClr val="FFFFFF"/>
          </a:solidFill>
          <a:ln/>
        </p:spPr>
      </p:sp>
      <p:sp>
        <p:nvSpPr>
          <p:cNvPr id="5" name="Shape 3"/>
          <p:cNvSpPr/>
          <p:nvPr/>
        </p:nvSpPr>
        <p:spPr>
          <a:xfrm>
            <a:off x="812800" y="2021842"/>
            <a:ext cx="5207000" cy="2156460"/>
          </a:xfrm>
          <a:custGeom>
            <a:avLst/>
            <a:gdLst/>
            <a:ahLst/>
            <a:cxnLst/>
            <a:rect l="l" t="t" r="r" b="b"/>
            <a:pathLst>
              <a:path w="5207000" h="2156460">
                <a:moveTo>
                  <a:pt x="0" y="76200"/>
                </a:moveTo>
                <a:lnTo>
                  <a:pt x="0" y="76200"/>
                </a:lnTo>
                <a:arcTo hR="76200" wR="76200" stAng="10800000" swAng="5400000"/>
                <a:lnTo>
                  <a:pt x="5130800" y="0"/>
                </a:lnTo>
                <a:arcTo hR="76200" wR="76200" stAng="16200000" swAng="5400000"/>
                <a:lnTo>
                  <a:pt x="5207000" y="76200"/>
                </a:lnTo>
                <a:arcTo hR="25400" wR="76200" stAng="0" swAng="-5400000"/>
                <a:lnTo>
                  <a:pt x="76200" y="50800"/>
                </a:lnTo>
                <a:arcTo hR="25400" wR="76200" stAng="16200000" swAng="-5400000"/>
                <a:close/>
              </a:path>
            </a:pathLst>
          </a:custGeom>
          <a:solidFill>
            <a:srgbClr val="0F6E56"/>
          </a:solidFill>
          <a:ln/>
        </p:spPr>
      </p:sp>
      <p:sp>
        <p:nvSpPr>
          <p:cNvPr id="6" name="Text 4"/>
          <p:cNvSpPr/>
          <p:nvPr/>
        </p:nvSpPr>
        <p:spPr>
          <a:xfrm>
            <a:off x="1016000" y="2275842"/>
            <a:ext cx="4944618"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0F6E56"/>
                </a:solidFill>
                <a:latin typeface="Helvetica" pitchFamily="34" charset="0"/>
                <a:ea typeface="Helvetica" pitchFamily="34" charset="-122"/>
                <a:cs typeface="Helvetica" pitchFamily="34" charset="-120"/>
              </a:rPr>
              <a:t>Built</a:t>
            </a:r>
            <a:endParaRPr lang="en-US" sz="1700" dirty="0"/>
          </a:p>
        </p:txBody>
      </p:sp>
      <p:sp>
        <p:nvSpPr>
          <p:cNvPr id="7" name="Text 5"/>
          <p:cNvSpPr/>
          <p:nvPr/>
        </p:nvSpPr>
        <p:spPr>
          <a:xfrm>
            <a:off x="1092708" y="2654300"/>
            <a:ext cx="4860290" cy="1346200"/>
          </a:xfrm>
          <a:prstGeom prst="rect">
            <a:avLst/>
          </a:prstGeom>
          <a:noFill/>
          <a:ln/>
        </p:spPr>
        <p:txBody>
          <a:bodyPr wrap="square" lIns="0" tIns="0" rIns="0" bIns="0" rtlCol="0" anchor="t">
            <a:normAutofit/>
          </a:bodyPr>
          <a:lstStyle/>
          <a:p>
            <a:pPr algn="l" marL="177292" indent="-177292">
              <a:lnSpc>
                <a:spcPts val="2080"/>
              </a:lnSpc>
              <a:buSzPct val="100000"/>
              <a:buChar char="•"/>
            </a:pPr>
            <a:r>
              <a:rPr lang="en-US" sz="1600" dirty="0">
                <a:solidFill>
                  <a:srgbClr val="14201F"/>
                </a:solidFill>
                <a:latin typeface="Helvetica" pitchFamily="34" charset="0"/>
                <a:ea typeface="Helvetica" pitchFamily="34" charset="-122"/>
                <a:cs typeface="Helvetica" pitchFamily="34" charset="-120"/>
              </a:rPr>
              <a:t>Camera sizing in mm, two sizers</a:t>
            </a:r>
            <a:endParaRPr lang="en-US" sz="1600" dirty="0"/>
          </a:p>
          <a:p>
            <a:pPr algn="l" marL="177292" indent="-177292">
              <a:lnSpc>
                <a:spcPts val="2080"/>
              </a:lnSpc>
              <a:buSzPct val="100000"/>
              <a:buChar char="•"/>
            </a:pPr>
            <a:r>
              <a:rPr lang="en-US" sz="1600" dirty="0">
                <a:solidFill>
                  <a:srgbClr val="14201F"/>
                </a:solidFill>
                <a:latin typeface="Helvetica" pitchFamily="34" charset="0"/>
                <a:ea typeface="Helvetica" pitchFamily="34" charset="-122"/>
                <a:cs typeface="Helvetica" pitchFamily="34" charset="-120"/>
              </a:rPr>
              <a:t>Sieve stack and flow planner</a:t>
            </a:r>
            <a:endParaRPr lang="en-US" sz="1600" dirty="0"/>
          </a:p>
          <a:p>
            <a:pPr algn="l" marL="177292" indent="-177292">
              <a:lnSpc>
                <a:spcPts val="2080"/>
              </a:lnSpc>
              <a:buSzPct val="100000"/>
              <a:buChar char="•"/>
            </a:pPr>
            <a:r>
              <a:rPr lang="en-US" sz="1600" dirty="0">
                <a:solidFill>
                  <a:srgbClr val="14201F"/>
                </a:solidFill>
                <a:latin typeface="Helvetica" pitchFamily="34" charset="0"/>
                <a:ea typeface="Helvetica" pitchFamily="34" charset="-122"/>
                <a:cs typeface="Helvetica" pitchFamily="34" charset="-120"/>
              </a:rPr>
              <a:t>Digital twin preflight</a:t>
            </a:r>
            <a:endParaRPr lang="en-US" sz="1600" dirty="0"/>
          </a:p>
          <a:p>
            <a:pPr algn="l" marL="177292" indent="-177292">
              <a:lnSpc>
                <a:spcPts val="2080"/>
              </a:lnSpc>
              <a:buSzPct val="100000"/>
              <a:buChar char="•"/>
            </a:pPr>
            <a:r>
              <a:rPr lang="en-US" sz="1600" dirty="0">
                <a:solidFill>
                  <a:srgbClr val="14201F"/>
                </a:solidFill>
                <a:latin typeface="Helvetica" pitchFamily="34" charset="0"/>
                <a:ea typeface="Helvetica" pitchFamily="34" charset="-122"/>
                <a:cs typeface="Helvetica" pitchFamily="34" charset="-120"/>
              </a:rPr>
              <a:t>Provenance log and MCP server</a:t>
            </a:r>
            <a:endParaRPr lang="en-US" sz="1600" dirty="0"/>
          </a:p>
          <a:p>
            <a:pPr algn="l" marL="177292" indent="-177292">
              <a:lnSpc>
                <a:spcPts val="2080"/>
              </a:lnSpc>
              <a:buSzPct val="100000"/>
              <a:buChar char="•"/>
            </a:pPr>
            <a:r>
              <a:rPr lang="en-US" sz="1600" dirty="0">
                <a:solidFill>
                  <a:srgbClr val="14201F"/>
                </a:solidFill>
                <a:latin typeface="Helvetica" pitchFamily="34" charset="0"/>
                <a:ea typeface="Helvetica" pitchFamily="34" charset="-122"/>
                <a:cs typeface="Helvetica" pitchFamily="34" charset="-120"/>
              </a:rPr>
              <a:t>BugPicker file handoff</a:t>
            </a:r>
            <a:endParaRPr lang="en-US" sz="1600" dirty="0"/>
          </a:p>
        </p:txBody>
      </p:sp>
      <p:sp>
        <p:nvSpPr>
          <p:cNvPr id="8" name="Shape 6"/>
          <p:cNvSpPr/>
          <p:nvPr/>
        </p:nvSpPr>
        <p:spPr>
          <a:xfrm>
            <a:off x="6172200" y="2021842"/>
            <a:ext cx="5207000" cy="2156460"/>
          </a:xfrm>
          <a:prstGeom prst="roundRect">
            <a:avLst>
              <a:gd name="adj" fmla="val 3534"/>
            </a:avLst>
          </a:prstGeom>
          <a:solidFill>
            <a:srgbClr val="FFFFFF"/>
          </a:solidFill>
          <a:ln/>
        </p:spPr>
      </p:sp>
      <p:sp>
        <p:nvSpPr>
          <p:cNvPr id="9" name="Shape 7"/>
          <p:cNvSpPr/>
          <p:nvPr/>
        </p:nvSpPr>
        <p:spPr>
          <a:xfrm>
            <a:off x="6172200" y="2021842"/>
            <a:ext cx="5207000" cy="2156460"/>
          </a:xfrm>
          <a:custGeom>
            <a:avLst/>
            <a:gdLst/>
            <a:ahLst/>
            <a:cxnLst/>
            <a:rect l="l" t="t" r="r" b="b"/>
            <a:pathLst>
              <a:path w="5207000" h="2156460">
                <a:moveTo>
                  <a:pt x="0" y="76200"/>
                </a:moveTo>
                <a:lnTo>
                  <a:pt x="0" y="76200"/>
                </a:lnTo>
                <a:arcTo hR="76200" wR="76200" stAng="10800000" swAng="5400000"/>
                <a:lnTo>
                  <a:pt x="5130800" y="0"/>
                </a:lnTo>
                <a:arcTo hR="76200" wR="76200" stAng="16200000" swAng="5400000"/>
                <a:lnTo>
                  <a:pt x="5207000" y="76200"/>
                </a:lnTo>
                <a:arcTo hR="25400" wR="76200" stAng="0" swAng="-5400000"/>
                <a:lnTo>
                  <a:pt x="76200" y="50800"/>
                </a:lnTo>
                <a:arcTo hR="25400" wR="76200" stAng="16200000" swAng="-5400000"/>
                <a:close/>
              </a:path>
            </a:pathLst>
          </a:custGeom>
          <a:solidFill>
            <a:srgbClr val="B8481F"/>
          </a:solidFill>
          <a:ln/>
        </p:spPr>
      </p:sp>
      <p:sp>
        <p:nvSpPr>
          <p:cNvPr id="10" name="Text 8"/>
          <p:cNvSpPr/>
          <p:nvPr/>
        </p:nvSpPr>
        <p:spPr>
          <a:xfrm>
            <a:off x="6375400" y="2275842"/>
            <a:ext cx="4944618" cy="32766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B8481F"/>
                </a:solidFill>
                <a:latin typeface="Helvetica" pitchFamily="34" charset="0"/>
                <a:ea typeface="Helvetica" pitchFamily="34" charset="-122"/>
                <a:cs typeface="Helvetica" pitchFamily="34" charset="-120"/>
              </a:rPr>
              <a:t>Next</a:t>
            </a:r>
            <a:endParaRPr lang="en-US" sz="1700" dirty="0"/>
          </a:p>
        </p:txBody>
      </p:sp>
      <p:sp>
        <p:nvSpPr>
          <p:cNvPr id="11" name="Text 9"/>
          <p:cNvSpPr/>
          <p:nvPr/>
        </p:nvSpPr>
        <p:spPr>
          <a:xfrm>
            <a:off x="6452108" y="2654300"/>
            <a:ext cx="4860290" cy="1082040"/>
          </a:xfrm>
          <a:prstGeom prst="rect">
            <a:avLst/>
          </a:prstGeom>
          <a:noFill/>
          <a:ln/>
        </p:spPr>
        <p:txBody>
          <a:bodyPr wrap="square" lIns="0" tIns="0" rIns="0" bIns="0" rtlCol="0" anchor="t">
            <a:normAutofit/>
          </a:bodyPr>
          <a:lstStyle/>
          <a:p>
            <a:pPr algn="l" marL="177292" indent="-177292">
              <a:lnSpc>
                <a:spcPts val="2080"/>
              </a:lnSpc>
              <a:buSzPct val="100000"/>
              <a:buChar char="•"/>
            </a:pPr>
            <a:r>
              <a:rPr lang="en-US" sz="1600" dirty="0">
                <a:solidFill>
                  <a:srgbClr val="14201F"/>
                </a:solidFill>
                <a:latin typeface="Helvetica" pitchFamily="34" charset="0"/>
                <a:ea typeface="Helvetica" pitchFamily="34" charset="-122"/>
                <a:cs typeface="Helvetica" pitchFamily="34" charset="-120"/>
              </a:rPr>
              <a:t>Drive the real arm and sieves</a:t>
            </a:r>
            <a:endParaRPr lang="en-US" sz="1600" dirty="0"/>
          </a:p>
          <a:p>
            <a:pPr algn="l" marL="177292" indent="-177292">
              <a:lnSpc>
                <a:spcPts val="2080"/>
              </a:lnSpc>
              <a:buSzPct val="100000"/>
              <a:buChar char="•"/>
            </a:pPr>
            <a:r>
              <a:rPr lang="en-US" sz="1600" dirty="0">
                <a:solidFill>
                  <a:srgbClr val="14201F"/>
                </a:solidFill>
                <a:latin typeface="Helvetica" pitchFamily="34" charset="0"/>
                <a:ea typeface="Helvetica" pitchFamily="34" charset="-122"/>
                <a:cs typeface="Helvetica" pitchFamily="34" charset="-120"/>
              </a:rPr>
              <a:t>Measure real mesh apertures</a:t>
            </a:r>
            <a:endParaRPr lang="en-US" sz="1600" dirty="0"/>
          </a:p>
          <a:p>
            <a:pPr algn="l" marL="177292" indent="-177292">
              <a:lnSpc>
                <a:spcPts val="2080"/>
              </a:lnSpc>
              <a:buSzPct val="100000"/>
              <a:buChar char="•"/>
            </a:pPr>
            <a:r>
              <a:rPr lang="en-US" sz="1600" dirty="0">
                <a:solidFill>
                  <a:srgbClr val="14201F"/>
                </a:solidFill>
                <a:latin typeface="Helvetica" pitchFamily="34" charset="0"/>
                <a:ea typeface="Helvetica" pitchFamily="34" charset="-122"/>
                <a:cs typeface="Helvetica" pitchFamily="34" charset="-120"/>
              </a:rPr>
              <a:t>Train YOLO on bug analogs</a:t>
            </a:r>
            <a:endParaRPr lang="en-US" sz="1600" dirty="0"/>
          </a:p>
          <a:p>
            <a:pPr algn="l" marL="177292" indent="-177292">
              <a:lnSpc>
                <a:spcPts val="2080"/>
              </a:lnSpc>
              <a:buSzPct val="100000"/>
              <a:buChar char="•"/>
            </a:pPr>
            <a:r>
              <a:rPr lang="en-US" sz="1600" dirty="0">
                <a:solidFill>
                  <a:srgbClr val="14201F"/>
                </a:solidFill>
                <a:latin typeface="Helvetica" pitchFamily="34" charset="0"/>
                <a:ea typeface="Helvetica" pitchFamily="34" charset="-122"/>
                <a:cs typeface="Helvetica" pitchFamily="34" charset="-120"/>
              </a:rPr>
              <a:t>Collect real damage data</a:t>
            </a:r>
            <a:endParaRPr lang="en-US" sz="1600" dirty="0"/>
          </a:p>
        </p:txBody>
      </p:sp>
      <p:sp>
        <p:nvSpPr>
          <p:cNvPr id="12" name="Text 10"/>
          <p:cNvSpPr/>
          <p:nvPr/>
        </p:nvSpPr>
        <p:spPr>
          <a:xfrm>
            <a:off x="812800" y="4406900"/>
            <a:ext cx="10566400" cy="657860"/>
          </a:xfrm>
          <a:prstGeom prst="roundRect">
            <a:avLst>
              <a:gd name="adj" fmla="val 15444"/>
            </a:avLst>
          </a:prstGeom>
          <a:solidFill>
            <a:srgbClr val="14201F"/>
          </a:solidFill>
          <a:ln/>
        </p:spPr>
        <p:txBody>
          <a:bodyPr wrap="square" lIns="224242" tIns="148042" rIns="224242" bIns="122642" rtlCol="0" anchor="t">
            <a:normAutofit/>
          </a:bodyPr>
          <a:lstStyle/>
          <a:p>
            <a:pPr algn="l" indent="0" marL="0">
              <a:lnSpc>
                <a:spcPts val="2380"/>
              </a:lnSpc>
              <a:buNone/>
            </a:pPr>
            <a:r>
              <a:rPr lang="en-US" sz="1700" dirty="0">
                <a:solidFill>
                  <a:srgbClr val="F6F5F0"/>
                </a:solidFill>
                <a:latin typeface="Helvetica" pitchFamily="34" charset="0"/>
                <a:ea typeface="Helvetica" pitchFamily="34" charset="-122"/>
                <a:cs typeface="Helvetica" pitchFamily="34" charset="-120"/>
              </a:rPr>
              <a:t>Ask: [what you need from judges or partners]</a:t>
            </a:r>
            <a:endParaRPr lang="en-US" sz="1700" dirty="0"/>
          </a:p>
        </p:txBody>
      </p:sp>
      <p:sp>
        <p:nvSpPr>
          <p:cNvPr id="13" name="Text 11"/>
          <p:cNvSpPr/>
          <p:nvPr/>
        </p:nvSpPr>
        <p:spPr>
          <a:xfrm>
            <a:off x="812800" y="6238242"/>
            <a:ext cx="34328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370"/>
                </a:solidFill>
                <a:latin typeface="Helvetica" pitchFamily="34" charset="0"/>
                <a:ea typeface="Helvetica" pitchFamily="34" charset="-122"/>
                <a:cs typeface="Helvetica" pitchFamily="34" charset="-120"/>
              </a:rPr>
              <a:t>Automated sieving robot | Hackathon pitch</a:t>
            </a:r>
            <a:endParaRPr lang="en-US" sz="1200" dirty="0"/>
          </a:p>
        </p:txBody>
      </p:sp>
    </p:spTree>
  </p:cSld>
  <p:clrMapOvr>
    <a:masterClrMapping/>
  </p:clrMapOvr>
</p:sld>
</file>

<file path=ppt/theme/theme1.xml><?xml version="1.0" encoding="utf-8"?>
<a:theme xmlns:a="http://schemas.openxmlformats.org/drawingml/2006/main" name="Automated sieving robot">
  <a:themeElements>
    <a:clrScheme name="Automated sieving robot">
      <a:dk1>
        <a:srgbClr val="14201F"/>
      </a:dk1>
      <a:lt1>
        <a:srgbClr val="F6F5F0"/>
      </a:lt1>
      <a:dk2>
        <a:srgbClr val="4D5553"/>
      </a:dk2>
      <a:lt2>
        <a:srgbClr val="DFE0DB"/>
      </a:lt2>
      <a:accent1>
        <a:srgbClr val="0F6E56"/>
      </a:accent1>
      <a:accent2>
        <a:srgbClr val="B8481F"/>
      </a:accent2>
      <a:accent3>
        <a:srgbClr val="5DCAA5"/>
      </a:accent3>
      <a:accent4>
        <a:srgbClr val="F0997B"/>
      </a:accent4>
      <a:accent5>
        <a:srgbClr val="6B7370"/>
      </a:accent5>
      <a:accent6>
        <a:srgbClr val="3D4745"/>
      </a:accent6>
      <a:hlink>
        <a:srgbClr val="0563C1"/>
      </a:hlink>
      <a:folHlink>
        <a:srgbClr val="954F72"/>
      </a:folHlink>
    </a:clrScheme>
    <a:fontScheme name="Automated sieving robot">
      <a:majorFont>
        <a:latin typeface="Helvetic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Automated sieving robot</dc:title>
  <dc:subject/>
  <dc:creator/>
  <cp:lastModifiedBy/>
  <cp:revision>1</cp:revision>
  <dcterms:created xsi:type="dcterms:W3CDTF">2026-10-25T21:12:19Z</dcterms:created>
  <dcterms:modified xsi:type="dcterms:W3CDTF">2026-10-25T21:12:19Z</dcterms:modified>
</cp:coreProperties>
</file>