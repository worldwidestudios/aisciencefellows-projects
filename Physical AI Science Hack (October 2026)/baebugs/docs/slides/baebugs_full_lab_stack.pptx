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4" r:id="rId10"/>
    <p:sldId id="257" r:id="rId3"/>
    <p:sldId id="265" r:id="rId11"/>
    <p:sldId id="259" r:id="rId5"/>
    <p:sldId id="266" r:id="rId12"/>
    <p:sldId id="267" r:id="rId13"/>
    <p:sldId id="269" r:id="rId20"/>
    <p:sldId id="271" r:id="rId22"/>
    <p:sldId id="270" r:id="rId21"/>
    <p:sldId id="260" r:id="rId6"/>
    <p:sldId id="261" r:id="rId7"/>
    <p:sldId id="262" r:id="rId8"/>
    <p:sldId id="263" r:id="rId9"/>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2.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0:00-0:25. Sample prep is the bottleneck: separating specimens from debris by size, by hand. Our system looks first, then decides which sieves to use. Bags in, barcodes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0:25-1:05. Six stages: observe, hypothesize, preflight, run, verify, hand off. Teal steps are software, orange steps move hardware. Each step is logged so a result can be traced back to the exact sample and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1:05-1:40. A USB camera with a printed scale marker measures every body in millimetres. YOLO and classical contours fail in different ways, so we only act on sizes both agree on. Disagreements are flagged instead of sieved blind.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1:40-2:10. Before anything reaches the arm, a digital twin of the bench checks that the sieve exists and is free, the order is coarse to fine, slots are open and there is enough water. If any check fails, nothing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2:10-3:00. Be honest: the sizing, planning, twin, provenance and handoff are built. Closing the loop on real hardware, measuring real apertures and training on bug analogs are next. Finish with your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6652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01F"/>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74240"/>
            <a:ext cx="10566400" cy="3870960"/>
          </a:xfrm>
          <a:prstGeom prst="rect">
            <a:avLst/>
          </a:prstGeom>
          <a:noFill/>
          <a:ln/>
        </p:spPr>
        <p:txBody>
          <a:bodyPr wrap="square" lIns="0" tIns="0" rIns="0" bIns="0" rtlCol="0" anchor="t"/>
          <a:lstStyle>
            <a:lvl1pPr algn="l" indent="0" marL="0">
              <a:lnSpc>
                <a:spcPct val="140000"/>
              </a:lnSpc>
              <a:buNone/>
              <a:defRPr lang="en-US" sz="1600" dirty="0">
                <a:solidFill>
                  <a:srgbClr val="14201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6652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01F"/>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74240"/>
            <a:ext cx="10566400" cy="3870960"/>
          </a:xfrm>
          <a:prstGeom prst="rect">
            <a:avLst/>
          </a:prstGeom>
          <a:noFill/>
          <a:ln/>
        </p:spPr>
        <p:txBody>
          <a:bodyPr wrap="square" lIns="0" tIns="0" rIns="0" bIns="0" rtlCol="0" anchor="t"/>
          <a:lstStyle>
            <a:lvl1pPr algn="l" indent="0" marL="0">
              <a:lnSpc>
                <a:spcPct val="140000"/>
              </a:lnSpc>
              <a:buNone/>
              <a:defRPr lang="en-US" sz="1600" dirty="0">
                <a:solidFill>
                  <a:srgbClr val="14201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6E56"/>
                </a:solidFill>
                <a:latin typeface="Arial" pitchFamily="34" charset="0"/>
                <a:ea typeface="Arial" pitchFamily="34" charset="-122"/>
                <a:cs typeface="Arial" pitchFamily="34" charset="-120"/>
              </a:rPr>
              <a:t>Design intent</a:t>
            </a:r>
            <a:endParaRPr lang="en-US" sz="1400" dirty="0"/>
          </a:p>
        </p:txBody>
      </p:sp>
      <p:sp>
        <p:nvSpPr>
          <p:cNvPr id="3" name="Text 1"/>
          <p:cNvSpPr/>
          <p:nvPr>
            <p:ph type="title"/>
          </p:nvPr>
        </p:nvSpPr>
        <p:spPr>
          <a:xfrm>
            <a:off x="812800" y="136652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Arial" pitchFamily="34" charset="0"/>
                <a:ea typeface="Arial" pitchFamily="34" charset="-122"/>
                <a:cs typeface="Arial" pitchFamily="34" charset="-120"/>
              </a:rPr>
              <a:t>Sort a mixed sample with no manual sieving</a:t>
            </a:r>
            <a:endParaRPr lang="en-US" sz="3600" dirty="0"/>
          </a:p>
        </p:txBody>
      </p:sp>
      <p:sp>
        <p:nvSpPr>
          <p:cNvPr id="4" name="Text 2"/>
          <p:cNvSpPr/>
          <p:nvPr/>
        </p:nvSpPr>
        <p:spPr>
          <a:xfrm>
            <a:off x="854710" y="2999740"/>
            <a:ext cx="7537450" cy="1447800"/>
          </a:xfrm>
          <a:prstGeom prst="rect">
            <a:avLst/>
          </a:prstGeom>
          <a:noFill/>
          <a:ln/>
        </p:spPr>
        <p:txBody>
          <a:bodyPr wrap="square" lIns="0" tIns="0" rIns="0" bIns="0" rtlCol="0" anchor="t">
            <a:normAutofit/>
          </a:bodyPr>
          <a:lstStyle/>
          <a:p>
            <a:pPr algn="l" marL="212090" indent="-212090">
              <a:lnSpc>
                <a:spcPts val="2800"/>
              </a:lnSpc>
              <a:buSzPct val="100000"/>
              <a:buChar char="•"/>
            </a:pPr>
            <a:r>
              <a:rPr lang="en-US" sz="2000" dirty="0">
                <a:solidFill>
                  <a:srgbClr val="14201F"/>
                </a:solidFill>
                <a:latin typeface="Arial" pitchFamily="34" charset="0"/>
                <a:ea typeface="Arial" pitchFamily="34" charset="-122"/>
                <a:cs typeface="Arial" pitchFamily="34" charset="-120"/>
              </a:rPr>
              <a:t>Camera measures the sample and picks the sieve sizes</a:t>
            </a:r>
            <a:endParaRPr lang="en-US" sz="2000" dirty="0"/>
          </a:p>
          <a:p>
            <a:pPr algn="l" marL="212090" indent="-212090">
              <a:lnSpc>
                <a:spcPts val="2800"/>
              </a:lnSpc>
              <a:buSzPct val="100000"/>
              <a:buChar char="•"/>
            </a:pPr>
            <a:r>
              <a:rPr lang="en-US" sz="2000" dirty="0">
                <a:solidFill>
                  <a:srgbClr val="14201F"/>
                </a:solidFill>
                <a:latin typeface="Arial" pitchFamily="34" charset="0"/>
                <a:ea typeface="Arial" pitchFamily="34" charset="-122"/>
                <a:cs typeface="Arial" pitchFamily="34" charset="-120"/>
              </a:rPr>
              <a:t>Robot arm builds the stack and handles every tray</a:t>
            </a:r>
            <a:endParaRPr lang="en-US" sz="2000" dirty="0"/>
          </a:p>
          <a:p>
            <a:pPr algn="l" marL="212090" indent="-212090">
              <a:lnSpc>
                <a:spcPts val="2800"/>
              </a:lnSpc>
              <a:buSzPct val="100000"/>
              <a:buChar char="•"/>
            </a:pPr>
            <a:r>
              <a:rPr lang="en-US" sz="2000" dirty="0">
                <a:solidFill>
                  <a:srgbClr val="14201F"/>
                </a:solidFill>
                <a:latin typeface="Arial" pitchFamily="34" charset="0"/>
                <a:ea typeface="Arial" pitchFamily="34" charset="-122"/>
                <a:cs typeface="Arial" pitchFamily="34" charset="-120"/>
              </a:rPr>
              <a:t>Loop of shake, image and check until each layer is pure</a:t>
            </a:r>
            <a:endParaRPr lang="en-US" sz="2000" dirty="0"/>
          </a:p>
          <a:p>
            <a:pPr algn="l" marL="212090" indent="-212090">
              <a:lnSpc>
                <a:spcPts val="2800"/>
              </a:lnSpc>
              <a:buSzPct val="100000"/>
              <a:buChar char="•"/>
            </a:pPr>
            <a:r>
              <a:rPr lang="en-US" sz="2000" dirty="0">
                <a:solidFill>
                  <a:srgbClr val="14201F"/>
                </a:solidFill>
                <a:latin typeface="Arial" pitchFamily="34" charset="0"/>
                <a:ea typeface="Arial" pitchFamily="34" charset="-122"/>
                <a:cs typeface="Arial" pitchFamily="34" charset="-120"/>
              </a:rPr>
              <a:t>Clean layers delivered to scientists in collection boxes</a:t>
            </a:r>
            <a:endParaRPr lang="en-US" sz="2000" dirty="0"/>
          </a:p>
        </p:txBody>
      </p:sp>
      <p:pic>
        <p:nvPicPr>
          <p:cNvPr id="5" name="Image 0" descr="Camera above a stack of three sieve trays with finer particles in lower trays">    </p:cNvPr>
          <p:cNvPicPr>
            <a:picLocks noChangeAspect="1"/>
          </p:cNvPicPr>
          <p:nvPr/>
        </p:nvPicPr>
        <p:blipFill>
          <a:blip r:embed="rId1"/>
          <a:srcRect l="0" r="0" t="0" b="0"/>
          <a:stretch/>
        </p:blipFill>
        <p:spPr>
          <a:xfrm>
            <a:off x="8585200" y="2174240"/>
            <a:ext cx="2794000" cy="3073400"/>
          </a:xfrm>
          <a:prstGeom prst="rect">
            <a:avLst/>
          </a:prstGeom>
        </p:spPr>
      </p:pic>
      <p:sp>
        <p:nvSpPr>
          <p:cNvPr id="6" name="Text 3"/>
          <p:cNvSpPr/>
          <p:nvPr/>
        </p:nvSpPr>
        <p:spPr>
          <a:xfrm>
            <a:off x="812800" y="6238241"/>
            <a:ext cx="1972247"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6B7370"/>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6E56"/>
                </a:solidFill>
                <a:latin typeface="Arial" pitchFamily="34" charset="0"/>
                <a:ea typeface="Arial" pitchFamily="34" charset="-122"/>
                <a:cs typeface="Arial" pitchFamily="34" charset="-120"/>
              </a:rPr>
              <a:t>Design intent</a:t>
            </a:r>
            <a:endParaRPr lang="en-US" sz="1400" dirty="0"/>
          </a:p>
        </p:txBody>
      </p:sp>
      <p:sp>
        <p:nvSpPr>
          <p:cNvPr id="3" name="Text 1"/>
          <p:cNvSpPr/>
          <p:nvPr>
            <p:ph type="title"/>
          </p:nvPr>
        </p:nvSpPr>
        <p:spPr>
          <a:xfrm>
            <a:off x="812800" y="136652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Arial" pitchFamily="34" charset="0"/>
                <a:ea typeface="Arial" pitchFamily="34" charset="-122"/>
                <a:cs typeface="Arial" pitchFamily="34" charset="-120"/>
              </a:rPr>
              <a:t>System architecture</a:t>
            </a:r>
            <a:endParaRPr lang="en-US" sz="3600" dirty="0"/>
          </a:p>
        </p:txBody>
      </p:sp>
      <p:pic>
        <p:nvPicPr>
          <p:cNvPr id="4" name="Image 0" descr="System architecture: camera, compute, robot arm, rack and shaker, collection boxes, with a tray shelf and run log">    </p:cNvPr>
          <p:cNvPicPr>
            <a:picLocks noChangeAspect="1"/>
          </p:cNvPicPr>
          <p:nvPr/>
        </p:nvPicPr>
        <p:blipFill>
          <a:blip r:embed="rId1"/>
          <a:srcRect l="0" r="0" t="-18" b="-18"/>
          <a:stretch/>
        </p:blipFill>
        <p:spPr>
          <a:xfrm>
            <a:off x="812800" y="2174241"/>
            <a:ext cx="10566400" cy="2178050"/>
          </a:xfrm>
          <a:prstGeom prst="rect">
            <a:avLst/>
          </a:prstGeom>
        </p:spPr>
      </p:pic>
      <p:sp>
        <p:nvSpPr>
          <p:cNvPr id="5" name="Text 2"/>
          <p:cNvSpPr/>
          <p:nvPr/>
        </p:nvSpPr>
        <p:spPr>
          <a:xfrm>
            <a:off x="812800" y="6238239"/>
            <a:ext cx="1972247"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6B7370"/>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01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DCAA5"/>
                </a:solidFill>
                <a:latin typeface="Arial" pitchFamily="34" charset="0"/>
                <a:ea typeface="Arial" pitchFamily="34" charset="-122"/>
                <a:cs typeface="Arial" pitchFamily="34" charset="-120"/>
              </a:rPr>
              <a:t>Design intent</a:t>
            </a:r>
            <a:endParaRPr lang="en-US" sz="1400" dirty="0"/>
          </a:p>
        </p:txBody>
      </p:sp>
      <p:sp>
        <p:nvSpPr>
          <p:cNvPr id="3" name="Text 1"/>
          <p:cNvSpPr/>
          <p:nvPr>
            <p:ph type="title"/>
          </p:nvPr>
        </p:nvSpPr>
        <p:spPr>
          <a:xfrm>
            <a:off x="812800" y="13665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6F5F0"/>
                </a:solidFill>
                <a:latin typeface="Arial" pitchFamily="34" charset="0"/>
                <a:ea typeface="Arial" pitchFamily="34" charset="-122"/>
                <a:cs typeface="Arial" pitchFamily="34" charset="-120"/>
              </a:rPr>
              <a:t>Deciding when a tray is done</a:t>
            </a:r>
            <a:endParaRPr lang="en-US" sz="3600" dirty="0"/>
          </a:p>
        </p:txBody>
      </p:sp>
      <p:sp>
        <p:nvSpPr>
          <p:cNvPr id="4" name="Shape 2"/>
          <p:cNvSpPr/>
          <p:nvPr/>
        </p:nvSpPr>
        <p:spPr>
          <a:xfrm>
            <a:off x="815975" y="2177414"/>
            <a:ext cx="3414157" cy="1577975"/>
          </a:xfrm>
          <a:prstGeom prst="roundRect">
            <a:avLst>
              <a:gd name="adj" fmla="val 6237"/>
            </a:avLst>
          </a:prstGeom>
          <a:solidFill>
            <a:srgbClr val="FFFFFF"/>
          </a:solidFill>
          <a:ln w="6350">
            <a:solidFill>
              <a:srgbClr val="DCDAD0"/>
            </a:solidFill>
            <a:prstDash val="solid"/>
          </a:ln>
        </p:spPr>
      </p:sp>
      <p:sp>
        <p:nvSpPr>
          <p:cNvPr id="5" name="Text 3"/>
          <p:cNvSpPr/>
          <p:nvPr/>
        </p:nvSpPr>
        <p:spPr>
          <a:xfrm>
            <a:off x="1046480" y="2407921"/>
            <a:ext cx="304174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Arial" pitchFamily="34" charset="0"/>
                <a:ea typeface="Arial" pitchFamily="34" charset="-122"/>
                <a:cs typeface="Arial" pitchFamily="34" charset="-120"/>
              </a:rPr>
              <a:t>Purity per tray</a:t>
            </a:r>
            <a:endParaRPr lang="en-US" sz="1300" dirty="0"/>
          </a:p>
        </p:txBody>
      </p:sp>
      <p:sp>
        <p:nvSpPr>
          <p:cNvPr id="6" name="Text 4"/>
          <p:cNvSpPr/>
          <p:nvPr/>
        </p:nvSpPr>
        <p:spPr>
          <a:xfrm>
            <a:off x="1046480" y="2715261"/>
            <a:ext cx="3041741" cy="565150"/>
          </a:xfrm>
          <a:prstGeom prst="rect">
            <a:avLst/>
          </a:prstGeom>
          <a:noFill/>
          <a:ln/>
        </p:spPr>
        <p:txBody>
          <a:bodyPr wrap="square" lIns="0" tIns="0" rIns="0" bIns="0" rtlCol="0" anchor="t">
            <a:noAutofit/>
          </a:bodyPr>
          <a:lstStyle/>
          <a:p>
            <a:pPr algn="l" indent="0" marL="0">
              <a:lnSpc>
                <a:spcPts val="2125"/>
              </a:lnSpc>
              <a:buNone/>
            </a:pPr>
            <a:r>
              <a:rPr lang="en-US" sz="1300" dirty="0">
                <a:solidFill>
                  <a:srgbClr val="3D4542"/>
                </a:solidFill>
                <a:latin typeface="Arial" pitchFamily="34" charset="0"/>
                <a:ea typeface="Arial" pitchFamily="34" charset="-122"/>
                <a:cs typeface="Arial" pitchFamily="34" charset="-120"/>
              </a:rPr>
              <a:t>Target objects divided by all objects in the tray image</a:t>
            </a:r>
            <a:endParaRPr lang="en-US" sz="1700" dirty="0"/>
          </a:p>
        </p:txBody>
      </p:sp>
      <p:sp>
        <p:nvSpPr>
          <p:cNvPr id="7" name="Shape 5"/>
          <p:cNvSpPr/>
          <p:nvPr/>
        </p:nvSpPr>
        <p:spPr>
          <a:xfrm>
            <a:off x="4388882" y="2177414"/>
            <a:ext cx="3414236" cy="1577975"/>
          </a:xfrm>
          <a:prstGeom prst="roundRect">
            <a:avLst>
              <a:gd name="adj" fmla="val 6237"/>
            </a:avLst>
          </a:prstGeom>
          <a:solidFill>
            <a:srgbClr val="FFFFFF"/>
          </a:solidFill>
          <a:ln w="6350">
            <a:solidFill>
              <a:srgbClr val="DCDAD0"/>
            </a:solidFill>
            <a:prstDash val="solid"/>
          </a:ln>
        </p:spPr>
      </p:sp>
      <p:sp>
        <p:nvSpPr>
          <p:cNvPr id="8" name="Text 6"/>
          <p:cNvSpPr/>
          <p:nvPr/>
        </p:nvSpPr>
        <p:spPr>
          <a:xfrm>
            <a:off x="4619387" y="2407921"/>
            <a:ext cx="304182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Arial" pitchFamily="34" charset="0"/>
                <a:ea typeface="Arial" pitchFamily="34" charset="-122"/>
                <a:cs typeface="Arial" pitchFamily="34" charset="-120"/>
              </a:rPr>
              <a:t>Pass rule</a:t>
            </a:r>
            <a:endParaRPr lang="en-US" sz="1300" dirty="0"/>
          </a:p>
        </p:txBody>
      </p:sp>
      <p:sp>
        <p:nvSpPr>
          <p:cNvPr id="9" name="Text 7"/>
          <p:cNvSpPr/>
          <p:nvPr/>
        </p:nvSpPr>
        <p:spPr>
          <a:xfrm>
            <a:off x="4619387" y="2715261"/>
            <a:ext cx="3041823" cy="565150"/>
          </a:xfrm>
          <a:prstGeom prst="rect">
            <a:avLst/>
          </a:prstGeom>
          <a:noFill/>
          <a:ln/>
        </p:spPr>
        <p:txBody>
          <a:bodyPr wrap="square" lIns="0" tIns="0" rIns="0" bIns="0" rtlCol="0" anchor="t">
            <a:noAutofit/>
          </a:bodyPr>
          <a:lstStyle/>
          <a:p>
            <a:pPr algn="l" indent="0" marL="0">
              <a:lnSpc>
                <a:spcPts val="2125"/>
              </a:lnSpc>
              <a:buNone/>
            </a:pPr>
            <a:r>
              <a:rPr lang="en-US" sz="1300" dirty="0">
                <a:solidFill>
                  <a:srgbClr val="3D4542"/>
                </a:solidFill>
                <a:latin typeface="Arial" pitchFamily="34" charset="0"/>
                <a:ea typeface="Arial" pitchFamily="34" charset="-122"/>
                <a:cs typeface="Arial" pitchFamily="34" charset="-120"/>
              </a:rPr>
              <a:t>Target purity set from calibration runs on labelled trays; not measured yet</a:t>
            </a:r>
            <a:endParaRPr lang="en-US" sz="1700" dirty="0"/>
          </a:p>
        </p:txBody>
      </p:sp>
      <p:sp>
        <p:nvSpPr>
          <p:cNvPr id="10" name="Shape 8"/>
          <p:cNvSpPr/>
          <p:nvPr/>
        </p:nvSpPr>
        <p:spPr>
          <a:xfrm>
            <a:off x="7961868" y="2177414"/>
            <a:ext cx="3414157" cy="1577975"/>
          </a:xfrm>
          <a:prstGeom prst="roundRect">
            <a:avLst>
              <a:gd name="adj" fmla="val 6237"/>
            </a:avLst>
          </a:prstGeom>
          <a:solidFill>
            <a:srgbClr val="FFFFFF"/>
          </a:solidFill>
          <a:ln w="6350">
            <a:solidFill>
              <a:srgbClr val="DCDAD0"/>
            </a:solidFill>
            <a:prstDash val="solid"/>
          </a:ln>
        </p:spPr>
      </p:sp>
      <p:sp>
        <p:nvSpPr>
          <p:cNvPr id="11" name="Text 9"/>
          <p:cNvSpPr/>
          <p:nvPr/>
        </p:nvSpPr>
        <p:spPr>
          <a:xfrm>
            <a:off x="8192374" y="2407921"/>
            <a:ext cx="304174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Arial" pitchFamily="34" charset="0"/>
                <a:ea typeface="Arial" pitchFamily="34" charset="-122"/>
                <a:cs typeface="Arial" pitchFamily="34" charset="-120"/>
              </a:rPr>
              <a:t>Stop and flag</a:t>
            </a:r>
            <a:endParaRPr lang="en-US" sz="1300" dirty="0"/>
          </a:p>
        </p:txBody>
      </p:sp>
      <p:sp>
        <p:nvSpPr>
          <p:cNvPr id="12" name="Text 10"/>
          <p:cNvSpPr/>
          <p:nvPr/>
        </p:nvSpPr>
        <p:spPr>
          <a:xfrm>
            <a:off x="8192374" y="2715261"/>
            <a:ext cx="3041741" cy="835025"/>
          </a:xfrm>
          <a:prstGeom prst="rect">
            <a:avLst/>
          </a:prstGeom>
          <a:noFill/>
          <a:ln/>
        </p:spPr>
        <p:txBody>
          <a:bodyPr wrap="square" lIns="0" tIns="0" rIns="0" bIns="0" rtlCol="0" anchor="t">
            <a:noAutofit/>
          </a:bodyPr>
          <a:lstStyle/>
          <a:p>
            <a:pPr algn="l" indent="0" marL="0">
              <a:lnSpc>
                <a:spcPts val="2125"/>
              </a:lnSpc>
              <a:buNone/>
            </a:pPr>
            <a:r>
              <a:rPr lang="en-US" sz="1300" dirty="0">
                <a:solidFill>
                  <a:srgbClr val="3D4542"/>
                </a:solidFill>
                <a:latin typeface="Arial" pitchFamily="34" charset="0"/>
                <a:ea typeface="Arial" pitchFamily="34" charset="-122"/>
                <a:cs typeface="Arial" pitchFamily="34" charset="-120"/>
              </a:rPr>
              <a:t>Cycle cap set at calibration; a failed gate is logged as a BREAK, then human review</a:t>
            </a:r>
            <a:endParaRPr lang="en-US" sz="1700" dirty="0"/>
          </a:p>
        </p:txBody>
      </p:sp>
      <p:sp>
        <p:nvSpPr>
          <p:cNvPr id="13" name="Text 11"/>
          <p:cNvSpPr/>
          <p:nvPr/>
        </p:nvSpPr>
        <p:spPr>
          <a:xfrm>
            <a:off x="812800" y="6238239"/>
            <a:ext cx="1972247"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9AA19E"/>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81F"/>
                </a:solidFill>
                <a:latin typeface="Arial" pitchFamily="34" charset="0"/>
                <a:ea typeface="Arial" pitchFamily="34" charset="-122"/>
                <a:cs typeface="Arial" pitchFamily="34" charset="-120"/>
              </a:rPr>
              <a:t>Outcome</a:t>
            </a:r>
            <a:endParaRPr lang="en-US" sz="1400" dirty="0"/>
          </a:p>
        </p:txBody>
      </p:sp>
      <p:sp>
        <p:nvSpPr>
          <p:cNvPr id="3" name="Text 1"/>
          <p:cNvSpPr/>
          <p:nvPr>
            <p:ph type="title"/>
          </p:nvPr>
        </p:nvSpPr>
        <p:spPr>
          <a:xfrm>
            <a:off x="812800" y="13665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Arial" pitchFamily="34" charset="0"/>
                <a:ea typeface="Arial" pitchFamily="34" charset="-122"/>
                <a:cs typeface="Arial" pitchFamily="34" charset="-120"/>
              </a:rPr>
              <a:t>What we achieved</a:t>
            </a:r>
            <a:endParaRPr lang="en-US" sz="3600" dirty="0"/>
          </a:p>
        </p:txBody>
      </p:sp>
      <p:sp>
        <p:nvSpPr>
          <p:cNvPr id="4" name="Text 2"/>
          <p:cNvSpPr/>
          <p:nvPr/>
        </p:nvSpPr>
        <p:spPr>
          <a:xfrm>
            <a:off x="854710" y="2174239"/>
            <a:ext cx="7380478" cy="3225800"/>
          </a:xfrm>
          <a:prstGeom prst="rect">
            <a:avLst/>
          </a:prstGeom>
          <a:noFill/>
          <a:ln/>
        </p:spPr>
        <p:txBody>
          <a:bodyPr wrap="square" lIns="0" tIns="0" rIns="0" bIns="0" rtlCol="0" anchor="t">
            <a:noAutofit/>
          </a:bodyPr>
          <a:lstStyle/>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Software end to end: sizing, sieve planning, twin preflight, custody graph, BugPicker files</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Real CA photos beat synthetic-only out of state: +0.696 Arizona, +0.521 Oregon (mask mAP50-95, exploratory)</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Order router outside California: macro-F1 0.70 vs 0.135 baseline, top-1 0.95 (n=231), weights stored</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Live: MVP graph and Protocol Board; physical cycle time not yet measured</a:t>
            </a:r>
            <a:endParaRPr lang="en-US" sz="2000" dirty="0"/>
          </a:p>
        </p:txBody>
      </p:sp>
      <p:sp>
        <p:nvSpPr>
          <p:cNvPr id="7" name="Text 5"/>
          <p:cNvSpPr/>
          <p:nvPr/>
        </p:nvSpPr>
        <p:spPr>
          <a:xfrm>
            <a:off x="812800" y="6238239"/>
            <a:ext cx="1972247"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6B7370"/>
                </a:solidFill>
                <a:latin typeface="Arial" pitchFamily="34" charset="0"/>
                <a:ea typeface="Arial" pitchFamily="34" charset="-122"/>
                <a:cs typeface="Arial" pitchFamily="34" charset="-120"/>
              </a:rPr>
              <a:t>BaeBugs · BioKEA Track A</a:t>
            </a:r>
            <a:endParaRPr lang="en-US" sz="1200" dirty="0"/>
          </a:p>
        </p:txBody>
      </p:sp>
      <p:pic>
        <p:nvPicPr>
          <p:cNvPr id="8" name="Picture 7" descr="previews.png"/>
          <p:cNvPicPr>
            <a:picLocks noChangeAspect="1"/>
          </p:cNvPicPr>
          <p:nvPr/>
        </p:nvPicPr>
        <p:blipFill>
          <a:blip r:embed="rId3"/>
          <a:stretch>
            <a:fillRect/>
          </a:stretch>
        </p:blipFill>
        <p:spPr>
          <a:xfrm>
            <a:off x="8331200" y="2364739"/>
            <a:ext cx="3048000" cy="1143000"/>
          </a:xfrm>
          <a:prstGeom prst="rect">
            <a:avLst/>
          </a:prstGeom>
        </p:spPr>
      </p:pic>
      <p:pic>
        <p:nvPicPr>
          <p:cNvPr id="9" name="Picture 8" descr="demo_still.png"/>
          <p:cNvPicPr>
            <a:picLocks noChangeAspect="1"/>
          </p:cNvPicPr>
          <p:nvPr/>
        </p:nvPicPr>
        <p:blipFill>
          <a:blip r:embed="rId4"/>
          <a:stretch>
            <a:fillRect/>
          </a:stretch>
        </p:blipFill>
        <p:spPr>
          <a:xfrm>
            <a:off x="8500533" y="3850639"/>
            <a:ext cx="2709333" cy="1524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81F"/>
                </a:solidFill>
                <a:latin typeface="Arial" pitchFamily="34" charset="0"/>
                <a:ea typeface="Arial" pitchFamily="34" charset="-122"/>
                <a:cs typeface="Arial" pitchFamily="34" charset="-120"/>
              </a:rPr>
              <a:t>Outcome</a:t>
            </a:r>
            <a:endParaRPr lang="en-US" sz="1400" dirty="0"/>
          </a:p>
        </p:txBody>
      </p:sp>
      <p:sp>
        <p:nvSpPr>
          <p:cNvPr id="3" name="Text 1"/>
          <p:cNvSpPr/>
          <p:nvPr>
            <p:ph type="title"/>
          </p:nvPr>
        </p:nvSpPr>
        <p:spPr>
          <a:xfrm>
            <a:off x="812800" y="13665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Arial" pitchFamily="34" charset="0"/>
                <a:ea typeface="Arial" pitchFamily="34" charset="-122"/>
                <a:cs typeface="Arial" pitchFamily="34" charset="-120"/>
              </a:rPr>
              <a:t>What we learned</a:t>
            </a:r>
            <a:endParaRPr lang="en-US" sz="3600" dirty="0"/>
          </a:p>
        </p:txBody>
      </p:sp>
      <p:sp>
        <p:nvSpPr>
          <p:cNvPr id="4" name="Text 2"/>
          <p:cNvSpPr/>
          <p:nvPr/>
        </p:nvSpPr>
        <p:spPr>
          <a:xfrm>
            <a:off x="854710" y="2174239"/>
            <a:ext cx="10833862" cy="1447800"/>
          </a:xfrm>
          <a:prstGeom prst="rect">
            <a:avLst/>
          </a:prstGeom>
          <a:noFill/>
          <a:ln/>
        </p:spPr>
        <p:txBody>
          <a:bodyPr wrap="square" lIns="0" tIns="0" rIns="0" bIns="0" rtlCol="0" anchor="t">
            <a:noAutofit/>
          </a:bodyPr>
          <a:lstStyle/>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Hole shape matters: bodies lying flat pass round holes only near 0.6 to 0.7 of the diameter, so most pass end-on</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FDM PLA and PETG failed on the perforated trommel, so apertures moved to metal inserts in plastic frames</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The order model called bare floor Lepidoptera at 0.998: photo-vs-render checks come next</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Hymenoptera family model falls from 0.88 to 0.17 out of state, so it hands off rather than decides</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A kernel bug lost 8 runs of weights; weights are now hashed every epoch and checked fail-closed</a:t>
            </a:r>
            <a:endParaRPr lang="en-US" sz="2000" dirty="0"/>
          </a:p>
        </p:txBody>
      </p:sp>
      <p:sp>
        <p:nvSpPr>
          <p:cNvPr id="5" name="Text 3"/>
          <p:cNvSpPr/>
          <p:nvPr/>
        </p:nvSpPr>
        <p:spPr>
          <a:xfrm>
            <a:off x="812800" y="6238239"/>
            <a:ext cx="1972247"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6B7370"/>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01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997B"/>
                </a:solidFill>
                <a:latin typeface="Arial" pitchFamily="34" charset="0"/>
                <a:ea typeface="Arial" pitchFamily="34" charset="-122"/>
                <a:cs typeface="Arial" pitchFamily="34" charset="-120"/>
              </a:rPr>
              <a:t>Outcome</a:t>
            </a:r>
            <a:endParaRPr lang="en-US" sz="1400" dirty="0"/>
          </a:p>
        </p:txBody>
      </p:sp>
      <p:sp>
        <p:nvSpPr>
          <p:cNvPr id="3" name="Text 1"/>
          <p:cNvSpPr/>
          <p:nvPr>
            <p:ph type="title"/>
          </p:nvPr>
        </p:nvSpPr>
        <p:spPr>
          <a:xfrm>
            <a:off x="812800" y="13665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6F5F0"/>
                </a:solidFill>
                <a:latin typeface="Arial" pitchFamily="34" charset="0"/>
                <a:ea typeface="Arial" pitchFamily="34" charset="-122"/>
                <a:cs typeface="Arial" pitchFamily="34" charset="-120"/>
              </a:rPr>
              <a:t>Future work</a:t>
            </a:r>
            <a:endParaRPr lang="en-US" sz="3600" dirty="0"/>
          </a:p>
        </p:txBody>
      </p:sp>
      <p:sp>
        <p:nvSpPr>
          <p:cNvPr id="4" name="Text 2"/>
          <p:cNvSpPr/>
          <p:nvPr/>
        </p:nvSpPr>
        <p:spPr>
          <a:xfrm>
            <a:off x="854710" y="2174239"/>
            <a:ext cx="10833862" cy="1803400"/>
          </a:xfrm>
          <a:prstGeom prst="rect">
            <a:avLst/>
          </a:prstGeom>
          <a:noFill/>
          <a:ln/>
        </p:spPr>
        <p:txBody>
          <a:bodyPr wrap="square" lIns="0" tIns="0" rIns="0" bIns="0" rtlCol="0" anchor="t">
            <a:noAutofit/>
          </a:bodyPr>
          <a:lstStyle/>
          <a:p>
            <a:pPr algn="l" marL="212090" indent="-212090">
              <a:lnSpc>
                <a:spcPts val="2800"/>
              </a:lnSpc>
              <a:buSzPct val="100000"/>
              <a:buChar char="•"/>
            </a:pPr>
            <a:r>
              <a:rPr lang="en-US" sz="1600" dirty="0">
                <a:solidFill>
                  <a:srgbClr val="F6F5F0"/>
                </a:solidFill>
                <a:latin typeface="Arial" pitchFamily="34" charset="0"/>
                <a:ea typeface="Arial" pitchFamily="34" charset="-122"/>
                <a:cs typeface="Arial" pitchFamily="34" charset="-120"/>
              </a:rPr>
              <a:t>Calibrate the variable-aperture stage and measure real mesh apertures</a:t>
            </a:r>
            <a:endParaRPr lang="en-US" sz="2000" dirty="0"/>
          </a:p>
          <a:p>
            <a:pPr algn="l" marL="212090" indent="-212090">
              <a:lnSpc>
                <a:spcPts val="2800"/>
              </a:lnSpc>
              <a:buSzPct val="100000"/>
              <a:buChar char="•"/>
            </a:pPr>
            <a:r>
              <a:rPr lang="en-US" sz="1600" dirty="0">
                <a:solidFill>
                  <a:srgbClr val="F6F5F0"/>
                </a:solidFill>
                <a:latin typeface="Arial" pitchFamily="34" charset="0"/>
                <a:ea typeface="Arial" pitchFamily="34" charset="-122"/>
                <a:cs typeface="Arial" pitchFamily="34" charset="-120"/>
              </a:rPr>
              <a:t>Validate purity against hand-sorted or weighed trays; motorized shaker with the arm moving trays</a:t>
            </a:r>
            <a:endParaRPr lang="en-US" sz="2000" dirty="0"/>
          </a:p>
          <a:p>
            <a:pPr algn="l" marL="212090" indent="-212090">
              <a:lnSpc>
                <a:spcPts val="2800"/>
              </a:lnSpc>
              <a:buSzPct val="100000"/>
              <a:buChar char="•"/>
            </a:pPr>
            <a:r>
              <a:rPr lang="en-US" sz="1600" dirty="0">
                <a:solidFill>
                  <a:srgbClr val="F6F5F0"/>
                </a:solidFill>
                <a:latin typeface="Arial" pitchFamily="34" charset="0"/>
                <a:ea typeface="Arial" pitchFamily="34" charset="-122"/>
                <a:cs typeface="Arial" pitchFamily="34" charset="-120"/>
              </a:rPr>
              <a:t>Species-level preprocessors, distilled to local models</a:t>
            </a:r>
            <a:endParaRPr lang="en-US" sz="2000" dirty="0"/>
          </a:p>
          <a:p>
            <a:pPr algn="l" marL="212090" indent="-212090">
              <a:lnSpc>
                <a:spcPts val="2800"/>
              </a:lnSpc>
              <a:buSzPct val="100000"/>
              <a:buChar char="•"/>
            </a:pPr>
            <a:r>
              <a:rPr lang="en-US" sz="1600" dirty="0">
                <a:solidFill>
                  <a:srgbClr val="F6F5F0"/>
                </a:solidFill>
                <a:latin typeface="Arial" pitchFamily="34" charset="0"/>
                <a:ea typeface="Arial" pitchFamily="34" charset="-122"/>
                <a:cs typeface="Arial" pitchFamily="34" charset="-120"/>
              </a:rPr>
              <a:t>BioKEA novel-bug finder on Hugging Face</a:t>
            </a:r>
            <a:endParaRPr lang="en-US" sz="2000" dirty="0"/>
          </a:p>
          <a:p>
            <a:pPr algn="l" marL="212090" indent="-212090">
              <a:lnSpc>
                <a:spcPts val="2800"/>
              </a:lnSpc>
              <a:buSzPct val="100000"/>
              <a:buChar char="•"/>
            </a:pPr>
            <a:r>
              <a:rPr lang="en-US" sz="1600" dirty="0">
                <a:solidFill>
                  <a:srgbClr val="F6F5F0"/>
                </a:solidFill>
                <a:latin typeface="Arial" pitchFamily="34" charset="0"/>
                <a:ea typeface="Arial" pitchFamily="34" charset="-122"/>
                <a:cs typeface="Arial" pitchFamily="34" charset="-120"/>
              </a:rPr>
              <a:t>Preprint on the custody method with a Heterodox Labs-style use case</a:t>
            </a:r>
            <a:endParaRPr lang="en-US" sz="2000" dirty="0"/>
          </a:p>
        </p:txBody>
      </p:sp>
      <p:sp>
        <p:nvSpPr>
          <p:cNvPr id="5" name="Text 3"/>
          <p:cNvSpPr/>
          <p:nvPr/>
        </p:nvSpPr>
        <p:spPr>
          <a:xfrm>
            <a:off x="812800" y="6238242"/>
            <a:ext cx="1972247"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9AA19E"/>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01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DCAA5"/>
                </a:solidFill>
                <a:latin typeface="Arial" pitchFamily="34" charset="0"/>
                <a:ea typeface="Arial" pitchFamily="34" charset="-122"/>
                <a:cs typeface="Arial" pitchFamily="34" charset="-120"/>
              </a:rPr>
              <a:t>Hackathon pitch</a:t>
            </a:r>
            <a:endParaRPr lang="en-US" sz="1400" dirty="0"/>
          </a:p>
        </p:txBody>
      </p:sp>
      <p:sp>
        <p:nvSpPr>
          <p:cNvPr id="3" name="Text 1"/>
          <p:cNvSpPr/>
          <p:nvPr>
            <p:ph type="title"/>
          </p:nvPr>
        </p:nvSpPr>
        <p:spPr>
          <a:xfrm>
            <a:off x="812800" y="1315721"/>
            <a:ext cx="10883392" cy="878840"/>
          </a:xfrm>
          <a:prstGeom prst="rect">
            <a:avLst/>
          </a:prstGeom>
          <a:noFill/>
          <a:ln/>
        </p:spPr>
        <p:txBody>
          <a:bodyPr wrap="square" lIns="0" tIns="0" rIns="0" bIns="0" rtlCol="0" anchor="t">
            <a:normAutofit/>
          </a:bodyPr>
          <a:lstStyle/>
          <a:p>
            <a:pPr algn="l" indent="0" marL="0">
              <a:lnSpc>
                <a:spcPts val="6720"/>
              </a:lnSpc>
              <a:buNone/>
            </a:pPr>
            <a:r>
              <a:rPr lang="en-US" sz="6400" b="0" i="0" dirty="0">
                <a:solidFill>
                  <a:srgbClr val="F6F5F0"/>
                </a:solidFill>
                <a:latin typeface="Arial" pitchFamily="34" charset="0"/>
                <a:ea typeface="Arial" pitchFamily="34" charset="-122"/>
                <a:cs typeface="Arial" pitchFamily="34" charset="-120"/>
              </a:rPr>
              <a:t>Bags in, barcodes out</a:t>
            </a:r>
            <a:endParaRPr lang="en-US" sz="6400" dirty="0"/>
          </a:p>
        </p:txBody>
      </p:sp>
      <p:sp>
        <p:nvSpPr>
          <p:cNvPr id="4" name="Text 2"/>
          <p:cNvSpPr/>
          <p:nvPr/>
        </p:nvSpPr>
        <p:spPr>
          <a:xfrm>
            <a:off x="812800" y="2423164"/>
            <a:ext cx="10883392" cy="381000"/>
          </a:xfrm>
          <a:prstGeom prst="rect">
            <a:avLst/>
          </a:prstGeom>
          <a:noFill/>
          <a:ln/>
        </p:spPr>
        <p:txBody>
          <a:bodyPr wrap="square" lIns="0" tIns="0" rIns="0" bIns="0" rtlCol="0" anchor="t">
            <a:noAutofit/>
          </a:bodyPr>
          <a:lstStyle/>
          <a:p>
            <a:pPr algn="l" indent="0" marL="0">
              <a:lnSpc>
                <a:spcPts val="2800"/>
              </a:lnSpc>
              <a:buNone/>
            </a:pPr>
            <a:r>
              <a:rPr lang="en-US" sz="2000" dirty="0">
                <a:solidFill>
                  <a:srgbClr val="B4B9B6"/>
                </a:solidFill>
                <a:latin typeface="Arial" pitchFamily="34" charset="0"/>
                <a:ea typeface="Arial" pitchFamily="34" charset="-122"/>
                <a:cs typeface="Arial" pitchFamily="34" charset="-120"/>
              </a:rPr>
              <a:t>From digital twin to physical objects, every step under chain of custody · BioKEA Track A</a:t>
            </a:r>
            <a:endParaRPr lang="en-US" sz="2000" dirty="0"/>
          </a:p>
        </p:txBody>
      </p:sp>
      <p:pic>
        <p:nvPicPr>
          <p:cNvPr id="5" name="Image 0" descr="Flow from a bag of mixed specimens through camera sizing and sieves to barcoded wells">    </p:cNvPr>
          <p:cNvPicPr>
            <a:picLocks noChangeAspect="1"/>
          </p:cNvPicPr>
          <p:nvPr/>
        </p:nvPicPr>
        <p:blipFill>
          <a:blip r:embed="rId1"/>
          <a:srcRect l="0" r="0" t="0" b="0"/>
          <a:stretch/>
        </p:blipFill>
        <p:spPr>
          <a:xfrm>
            <a:off x="812800" y="3032764"/>
            <a:ext cx="10566400" cy="1981200"/>
          </a:xfrm>
          <a:prstGeom prst="rect">
            <a:avLst/>
          </a:prstGeom>
        </p:spPr>
      </p:pic>
      <p:sp>
        <p:nvSpPr>
          <p:cNvPr id="6" name="Text 3"/>
          <p:cNvSpPr/>
          <p:nvPr/>
        </p:nvSpPr>
        <p:spPr>
          <a:xfrm>
            <a:off x="812800" y="6238242"/>
            <a:ext cx="3432810"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9AA19E"/>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6E56"/>
                </a:solidFill>
                <a:latin typeface="Arial" pitchFamily="34" charset="0"/>
                <a:ea typeface="Arial" pitchFamily="34" charset="-122"/>
                <a:cs typeface="Arial" pitchFamily="34" charset="-120"/>
              </a:rPr>
              <a:t>How it works</a:t>
            </a:r>
            <a:endParaRPr lang="en-US" sz="1400" dirty="0"/>
          </a:p>
        </p:txBody>
      </p:sp>
      <p:sp>
        <p:nvSpPr>
          <p:cNvPr id="3" name="Text 1"/>
          <p:cNvSpPr/>
          <p:nvPr>
            <p:ph type="title"/>
          </p:nvPr>
        </p:nvSpPr>
        <p:spPr>
          <a:xfrm>
            <a:off x="812800" y="13157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Arial" pitchFamily="34" charset="0"/>
                <a:ea typeface="Arial" pitchFamily="34" charset="-122"/>
                <a:cs typeface="Arial" pitchFamily="34" charset="-120"/>
              </a:rPr>
              <a:t>Six steps, each one checked</a:t>
            </a:r>
            <a:endParaRPr lang="en-US" sz="3600" dirty="0"/>
          </a:p>
        </p:txBody>
      </p:sp>
      <p:sp>
        <p:nvSpPr>
          <p:cNvPr id="4" name="Shape 2"/>
          <p:cNvSpPr/>
          <p:nvPr/>
        </p:nvSpPr>
        <p:spPr>
          <a:xfrm>
            <a:off x="812800" y="2072642"/>
            <a:ext cx="1655207" cy="1725930"/>
          </a:xfrm>
          <a:prstGeom prst="roundRect">
            <a:avLst>
              <a:gd name="adj" fmla="val 4604"/>
            </a:avLst>
          </a:prstGeom>
          <a:solidFill>
            <a:srgbClr val="FFFFFF"/>
          </a:solidFill>
          <a:ln/>
        </p:spPr>
      </p:sp>
      <p:sp>
        <p:nvSpPr>
          <p:cNvPr id="5" name="Shape 3"/>
          <p:cNvSpPr/>
          <p:nvPr/>
        </p:nvSpPr>
        <p:spPr>
          <a:xfrm>
            <a:off x="812800" y="2072642"/>
            <a:ext cx="1655207" cy="1725930"/>
          </a:xfrm>
          <a:custGeom>
            <a:avLst/>
            <a:gdLst/>
            <a:ahLst/>
            <a:cxnLst/>
            <a:rect l="l" t="t" r="r" b="b"/>
            <a:pathLst>
              <a:path w="1655207" h="1725930">
                <a:moveTo>
                  <a:pt x="0" y="76200"/>
                </a:moveTo>
                <a:lnTo>
                  <a:pt x="0" y="76200"/>
                </a:lnTo>
                <a:arcTo hR="76200" wR="76200" stAng="10800000" swAng="5400000"/>
                <a:lnTo>
                  <a:pt x="1579007" y="0"/>
                </a:lnTo>
                <a:arcTo hR="76200" wR="76200" stAng="16200000" swAng="5400000"/>
                <a:lnTo>
                  <a:pt x="1655207" y="76200"/>
                </a:lnTo>
                <a:arcTo hR="25400" wR="76200" stAng="0" swAng="-5400000"/>
                <a:lnTo>
                  <a:pt x="76200" y="50800"/>
                </a:lnTo>
                <a:arcTo hR="25400" wR="76200" stAng="16200000" swAng="-5400000"/>
                <a:close/>
              </a:path>
            </a:pathLst>
          </a:custGeom>
          <a:solidFill>
            <a:srgbClr val="0F6E56"/>
          </a:solidFill>
          <a:ln/>
        </p:spPr>
      </p:sp>
      <p:sp>
        <p:nvSpPr>
          <p:cNvPr id="6" name="Text 4"/>
          <p:cNvSpPr/>
          <p:nvPr/>
        </p:nvSpPr>
        <p:spPr>
          <a:xfrm>
            <a:off x="990600" y="2301242"/>
            <a:ext cx="135040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Arial" pitchFamily="34" charset="0"/>
                <a:ea typeface="Arial" pitchFamily="34" charset="-122"/>
                <a:cs typeface="Arial" pitchFamily="34" charset="-120"/>
              </a:rPr>
              <a:t>01</a:t>
            </a:r>
            <a:endParaRPr lang="en-US" sz="1300" dirty="0"/>
          </a:p>
        </p:txBody>
      </p:sp>
      <p:sp>
        <p:nvSpPr>
          <p:cNvPr id="7" name="Text 5"/>
          <p:cNvSpPr/>
          <p:nvPr/>
        </p:nvSpPr>
        <p:spPr>
          <a:xfrm>
            <a:off x="990600" y="2621279"/>
            <a:ext cx="135040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01F"/>
                </a:solidFill>
                <a:latin typeface="Arial" pitchFamily="34" charset="0"/>
                <a:ea typeface="Arial" pitchFamily="34" charset="-122"/>
                <a:cs typeface="Arial" pitchFamily="34" charset="-120"/>
              </a:rPr>
              <a:t>Observe</a:t>
            </a:r>
            <a:endParaRPr lang="en-US" sz="1500" dirty="0"/>
          </a:p>
        </p:txBody>
      </p:sp>
      <p:sp>
        <p:nvSpPr>
          <p:cNvPr id="8" name="Text 6"/>
          <p:cNvSpPr/>
          <p:nvPr/>
        </p:nvSpPr>
        <p:spPr>
          <a:xfrm>
            <a:off x="990600" y="2976879"/>
            <a:ext cx="1350407"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D4745"/>
                </a:solidFill>
                <a:latin typeface="Arial" pitchFamily="34" charset="0"/>
                <a:ea typeface="Arial" pitchFamily="34" charset="-122"/>
                <a:cs typeface="Arial" pitchFamily="34" charset="-120"/>
              </a:rPr>
              <a:t>Camera and two sizers measure every body</a:t>
            </a:r>
            <a:endParaRPr lang="en-US" sz="1300" dirty="0"/>
          </a:p>
        </p:txBody>
      </p:sp>
      <p:sp>
        <p:nvSpPr>
          <p:cNvPr id="9" name="Shape 7"/>
          <p:cNvSpPr/>
          <p:nvPr/>
        </p:nvSpPr>
        <p:spPr>
          <a:xfrm>
            <a:off x="2595007" y="2072642"/>
            <a:ext cx="1655286" cy="1725930"/>
          </a:xfrm>
          <a:prstGeom prst="roundRect">
            <a:avLst>
              <a:gd name="adj" fmla="val 4603"/>
            </a:avLst>
          </a:prstGeom>
          <a:solidFill>
            <a:srgbClr val="FFFFFF"/>
          </a:solidFill>
          <a:ln/>
        </p:spPr>
      </p:sp>
      <p:sp>
        <p:nvSpPr>
          <p:cNvPr id="10" name="Shape 8"/>
          <p:cNvSpPr/>
          <p:nvPr/>
        </p:nvSpPr>
        <p:spPr>
          <a:xfrm>
            <a:off x="2595007" y="2072642"/>
            <a:ext cx="1655286" cy="1725930"/>
          </a:xfrm>
          <a:custGeom>
            <a:avLst/>
            <a:gdLst/>
            <a:ahLst/>
            <a:cxnLst/>
            <a:rect l="l" t="t" r="r" b="b"/>
            <a:pathLst>
              <a:path w="1655286" h="1725930">
                <a:moveTo>
                  <a:pt x="0" y="76200"/>
                </a:moveTo>
                <a:lnTo>
                  <a:pt x="0" y="76200"/>
                </a:lnTo>
                <a:arcTo hR="76200" wR="76200" stAng="10800000" swAng="5400000"/>
                <a:lnTo>
                  <a:pt x="1579086" y="0"/>
                </a:lnTo>
                <a:arcTo hR="76200" wR="76200" stAng="16200000" swAng="5400000"/>
                <a:lnTo>
                  <a:pt x="1655286" y="76200"/>
                </a:lnTo>
                <a:arcTo hR="25400" wR="76200" stAng="0" swAng="-5400000"/>
                <a:lnTo>
                  <a:pt x="76200" y="50800"/>
                </a:lnTo>
                <a:arcTo hR="25400" wR="76200" stAng="16200000" swAng="-5400000"/>
                <a:close/>
              </a:path>
            </a:pathLst>
          </a:custGeom>
          <a:solidFill>
            <a:srgbClr val="0F6E56"/>
          </a:solidFill>
          <a:ln/>
        </p:spPr>
      </p:sp>
      <p:sp>
        <p:nvSpPr>
          <p:cNvPr id="11" name="Text 9"/>
          <p:cNvSpPr/>
          <p:nvPr/>
        </p:nvSpPr>
        <p:spPr>
          <a:xfrm>
            <a:off x="2772807" y="2301242"/>
            <a:ext cx="135048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Arial" pitchFamily="34" charset="0"/>
                <a:ea typeface="Arial" pitchFamily="34" charset="-122"/>
                <a:cs typeface="Arial" pitchFamily="34" charset="-120"/>
              </a:rPr>
              <a:t>02</a:t>
            </a:r>
            <a:endParaRPr lang="en-US" sz="1300" dirty="0"/>
          </a:p>
        </p:txBody>
      </p:sp>
      <p:sp>
        <p:nvSpPr>
          <p:cNvPr id="12" name="Text 10"/>
          <p:cNvSpPr/>
          <p:nvPr/>
        </p:nvSpPr>
        <p:spPr>
          <a:xfrm>
            <a:off x="2772807" y="2621279"/>
            <a:ext cx="135048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01F"/>
                </a:solidFill>
                <a:latin typeface="Arial" pitchFamily="34" charset="0"/>
                <a:ea typeface="Arial" pitchFamily="34" charset="-122"/>
                <a:cs typeface="Arial" pitchFamily="34" charset="-120"/>
              </a:rPr>
              <a:t>Hypothesize</a:t>
            </a:r>
            <a:endParaRPr lang="en-US" sz="1500" dirty="0"/>
          </a:p>
        </p:txBody>
      </p:sp>
      <p:sp>
        <p:nvSpPr>
          <p:cNvPr id="13" name="Text 11"/>
          <p:cNvSpPr/>
          <p:nvPr/>
        </p:nvSpPr>
        <p:spPr>
          <a:xfrm>
            <a:off x="2772807" y="2976879"/>
            <a:ext cx="1350486"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D4745"/>
                </a:solidFill>
                <a:latin typeface="Arial" pitchFamily="34" charset="0"/>
                <a:ea typeface="Arial" pitchFamily="34" charset="-122"/>
                <a:cs typeface="Arial" pitchFamily="34" charset="-120"/>
              </a:rPr>
              <a:t>Pick sieve stack and water flow</a:t>
            </a:r>
            <a:endParaRPr lang="en-US" sz="1300" dirty="0"/>
          </a:p>
        </p:txBody>
      </p:sp>
      <p:sp>
        <p:nvSpPr>
          <p:cNvPr id="14" name="Shape 12"/>
          <p:cNvSpPr/>
          <p:nvPr/>
        </p:nvSpPr>
        <p:spPr>
          <a:xfrm>
            <a:off x="4377293" y="2072642"/>
            <a:ext cx="1655207" cy="1725930"/>
          </a:xfrm>
          <a:prstGeom prst="roundRect">
            <a:avLst>
              <a:gd name="adj" fmla="val 4604"/>
            </a:avLst>
          </a:prstGeom>
          <a:solidFill>
            <a:srgbClr val="FFFFFF"/>
          </a:solidFill>
          <a:ln/>
        </p:spPr>
      </p:sp>
      <p:sp>
        <p:nvSpPr>
          <p:cNvPr id="15" name="Shape 13"/>
          <p:cNvSpPr/>
          <p:nvPr/>
        </p:nvSpPr>
        <p:spPr>
          <a:xfrm>
            <a:off x="4377293" y="2072642"/>
            <a:ext cx="1655207" cy="1725930"/>
          </a:xfrm>
          <a:custGeom>
            <a:avLst/>
            <a:gdLst/>
            <a:ahLst/>
            <a:cxnLst/>
            <a:rect l="l" t="t" r="r" b="b"/>
            <a:pathLst>
              <a:path w="1655207" h="1725930">
                <a:moveTo>
                  <a:pt x="0" y="76200"/>
                </a:moveTo>
                <a:lnTo>
                  <a:pt x="0" y="76200"/>
                </a:lnTo>
                <a:arcTo hR="76200" wR="76200" stAng="10800000" swAng="5400000"/>
                <a:lnTo>
                  <a:pt x="1579007" y="0"/>
                </a:lnTo>
                <a:arcTo hR="76200" wR="76200" stAng="16200000" swAng="5400000"/>
                <a:lnTo>
                  <a:pt x="1655207" y="76200"/>
                </a:lnTo>
                <a:arcTo hR="25400" wR="76200" stAng="0" swAng="-5400000"/>
                <a:lnTo>
                  <a:pt x="76200" y="50800"/>
                </a:lnTo>
                <a:arcTo hR="25400" wR="76200" stAng="16200000" swAng="-5400000"/>
                <a:close/>
              </a:path>
            </a:pathLst>
          </a:custGeom>
          <a:solidFill>
            <a:srgbClr val="0F6E56"/>
          </a:solidFill>
          <a:ln/>
        </p:spPr>
      </p:sp>
      <p:sp>
        <p:nvSpPr>
          <p:cNvPr id="16" name="Text 14"/>
          <p:cNvSpPr/>
          <p:nvPr/>
        </p:nvSpPr>
        <p:spPr>
          <a:xfrm>
            <a:off x="4555093" y="2301242"/>
            <a:ext cx="135040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Arial" pitchFamily="34" charset="0"/>
                <a:ea typeface="Arial" pitchFamily="34" charset="-122"/>
                <a:cs typeface="Arial" pitchFamily="34" charset="-120"/>
              </a:rPr>
              <a:t>03</a:t>
            </a:r>
            <a:endParaRPr lang="en-US" sz="1300" dirty="0"/>
          </a:p>
        </p:txBody>
      </p:sp>
      <p:sp>
        <p:nvSpPr>
          <p:cNvPr id="17" name="Text 15"/>
          <p:cNvSpPr/>
          <p:nvPr/>
        </p:nvSpPr>
        <p:spPr>
          <a:xfrm>
            <a:off x="4555093" y="2621279"/>
            <a:ext cx="135040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01F"/>
                </a:solidFill>
                <a:latin typeface="Arial" pitchFamily="34" charset="0"/>
                <a:ea typeface="Arial" pitchFamily="34" charset="-122"/>
                <a:cs typeface="Arial" pitchFamily="34" charset="-120"/>
              </a:rPr>
              <a:t>Preflight</a:t>
            </a:r>
            <a:endParaRPr lang="en-US" sz="1500" dirty="0"/>
          </a:p>
        </p:txBody>
      </p:sp>
      <p:sp>
        <p:nvSpPr>
          <p:cNvPr id="18" name="Text 16"/>
          <p:cNvSpPr/>
          <p:nvPr/>
        </p:nvSpPr>
        <p:spPr>
          <a:xfrm>
            <a:off x="4555093" y="2976879"/>
            <a:ext cx="1350407"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D4745"/>
                </a:solidFill>
                <a:latin typeface="Arial" pitchFamily="34" charset="0"/>
                <a:ea typeface="Arial" pitchFamily="34" charset="-122"/>
                <a:cs typeface="Arial" pitchFamily="34" charset="-120"/>
              </a:rPr>
              <a:t>Digital twin must pass</a:t>
            </a:r>
            <a:endParaRPr lang="en-US" sz="1300" dirty="0"/>
          </a:p>
        </p:txBody>
      </p:sp>
      <p:sp>
        <p:nvSpPr>
          <p:cNvPr id="19" name="Shape 17"/>
          <p:cNvSpPr/>
          <p:nvPr/>
        </p:nvSpPr>
        <p:spPr>
          <a:xfrm>
            <a:off x="6159500" y="2072642"/>
            <a:ext cx="1655286" cy="1725930"/>
          </a:xfrm>
          <a:prstGeom prst="roundRect">
            <a:avLst>
              <a:gd name="adj" fmla="val 4603"/>
            </a:avLst>
          </a:prstGeom>
          <a:solidFill>
            <a:srgbClr val="FFFFFF"/>
          </a:solidFill>
          <a:ln/>
        </p:spPr>
      </p:sp>
      <p:sp>
        <p:nvSpPr>
          <p:cNvPr id="20" name="Shape 18"/>
          <p:cNvSpPr/>
          <p:nvPr/>
        </p:nvSpPr>
        <p:spPr>
          <a:xfrm>
            <a:off x="6159500" y="2072642"/>
            <a:ext cx="1655286" cy="1725930"/>
          </a:xfrm>
          <a:custGeom>
            <a:avLst/>
            <a:gdLst/>
            <a:ahLst/>
            <a:cxnLst/>
            <a:rect l="l" t="t" r="r" b="b"/>
            <a:pathLst>
              <a:path w="1655286" h="1725930">
                <a:moveTo>
                  <a:pt x="0" y="76200"/>
                </a:moveTo>
                <a:lnTo>
                  <a:pt x="0" y="76200"/>
                </a:lnTo>
                <a:arcTo hR="76200" wR="76200" stAng="10800000" swAng="5400000"/>
                <a:lnTo>
                  <a:pt x="1579086" y="0"/>
                </a:lnTo>
                <a:arcTo hR="76200" wR="76200" stAng="16200000" swAng="5400000"/>
                <a:lnTo>
                  <a:pt x="1655286" y="76200"/>
                </a:lnTo>
                <a:arcTo hR="25400" wR="76200" stAng="0" swAng="-5400000"/>
                <a:lnTo>
                  <a:pt x="76200" y="50800"/>
                </a:lnTo>
                <a:arcTo hR="25400" wR="76200" stAng="16200000" swAng="-5400000"/>
                <a:close/>
              </a:path>
            </a:pathLst>
          </a:custGeom>
          <a:solidFill>
            <a:srgbClr val="B8481F"/>
          </a:solidFill>
          <a:ln/>
        </p:spPr>
      </p:sp>
      <p:sp>
        <p:nvSpPr>
          <p:cNvPr id="21" name="Text 19"/>
          <p:cNvSpPr/>
          <p:nvPr/>
        </p:nvSpPr>
        <p:spPr>
          <a:xfrm>
            <a:off x="6337300" y="2301242"/>
            <a:ext cx="135048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81F"/>
                </a:solidFill>
                <a:latin typeface="Arial" pitchFamily="34" charset="0"/>
                <a:ea typeface="Arial" pitchFamily="34" charset="-122"/>
                <a:cs typeface="Arial" pitchFamily="34" charset="-120"/>
              </a:rPr>
              <a:t>04</a:t>
            </a:r>
            <a:endParaRPr lang="en-US" sz="1300" dirty="0"/>
          </a:p>
        </p:txBody>
      </p:sp>
      <p:sp>
        <p:nvSpPr>
          <p:cNvPr id="22" name="Text 20"/>
          <p:cNvSpPr/>
          <p:nvPr/>
        </p:nvSpPr>
        <p:spPr>
          <a:xfrm>
            <a:off x="6337300" y="2621279"/>
            <a:ext cx="135048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01F"/>
                </a:solidFill>
                <a:latin typeface="Arial" pitchFamily="34" charset="0"/>
                <a:ea typeface="Arial" pitchFamily="34" charset="-122"/>
                <a:cs typeface="Arial" pitchFamily="34" charset="-120"/>
              </a:rPr>
              <a:t>Run</a:t>
            </a:r>
            <a:endParaRPr lang="en-US" sz="1500" dirty="0"/>
          </a:p>
        </p:txBody>
      </p:sp>
      <p:sp>
        <p:nvSpPr>
          <p:cNvPr id="23" name="Text 21"/>
          <p:cNvSpPr/>
          <p:nvPr/>
        </p:nvSpPr>
        <p:spPr>
          <a:xfrm>
            <a:off x="6337300" y="2976879"/>
            <a:ext cx="1350486"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D4745"/>
                </a:solidFill>
                <a:latin typeface="Arial" pitchFamily="34" charset="0"/>
                <a:ea typeface="Arial" pitchFamily="34" charset="-122"/>
                <a:cs typeface="Arial" pitchFamily="34" charset="-120"/>
              </a:rPr>
              <a:t>Arm places sieves, water rinses</a:t>
            </a:r>
            <a:endParaRPr lang="en-US" sz="1300" dirty="0"/>
          </a:p>
        </p:txBody>
      </p:sp>
      <p:sp>
        <p:nvSpPr>
          <p:cNvPr id="24" name="Shape 22"/>
          <p:cNvSpPr/>
          <p:nvPr/>
        </p:nvSpPr>
        <p:spPr>
          <a:xfrm>
            <a:off x="7941787" y="2072642"/>
            <a:ext cx="1655207" cy="1725930"/>
          </a:xfrm>
          <a:prstGeom prst="roundRect">
            <a:avLst>
              <a:gd name="adj" fmla="val 4604"/>
            </a:avLst>
          </a:prstGeom>
          <a:solidFill>
            <a:srgbClr val="FFFFFF"/>
          </a:solidFill>
          <a:ln/>
        </p:spPr>
      </p:sp>
      <p:sp>
        <p:nvSpPr>
          <p:cNvPr id="25" name="Shape 23"/>
          <p:cNvSpPr/>
          <p:nvPr/>
        </p:nvSpPr>
        <p:spPr>
          <a:xfrm>
            <a:off x="7941787" y="2072642"/>
            <a:ext cx="1655207" cy="1725930"/>
          </a:xfrm>
          <a:custGeom>
            <a:avLst/>
            <a:gdLst/>
            <a:ahLst/>
            <a:cxnLst/>
            <a:rect l="l" t="t" r="r" b="b"/>
            <a:pathLst>
              <a:path w="1655207" h="1725930">
                <a:moveTo>
                  <a:pt x="0" y="76200"/>
                </a:moveTo>
                <a:lnTo>
                  <a:pt x="0" y="76200"/>
                </a:lnTo>
                <a:arcTo hR="76200" wR="76200" stAng="10800000" swAng="5400000"/>
                <a:lnTo>
                  <a:pt x="1579007" y="0"/>
                </a:lnTo>
                <a:arcTo hR="76200" wR="76200" stAng="16200000" swAng="5400000"/>
                <a:lnTo>
                  <a:pt x="1655207" y="76200"/>
                </a:lnTo>
                <a:arcTo hR="25400" wR="76200" stAng="0" swAng="-5400000"/>
                <a:lnTo>
                  <a:pt x="76200" y="50800"/>
                </a:lnTo>
                <a:arcTo hR="25400" wR="76200" stAng="16200000" swAng="-5400000"/>
                <a:close/>
              </a:path>
            </a:pathLst>
          </a:custGeom>
          <a:solidFill>
            <a:srgbClr val="0F6E56"/>
          </a:solidFill>
          <a:ln/>
        </p:spPr>
      </p:sp>
      <p:sp>
        <p:nvSpPr>
          <p:cNvPr id="26" name="Text 24"/>
          <p:cNvSpPr/>
          <p:nvPr/>
        </p:nvSpPr>
        <p:spPr>
          <a:xfrm>
            <a:off x="8119587" y="2301242"/>
            <a:ext cx="135040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Arial" pitchFamily="34" charset="0"/>
                <a:ea typeface="Arial" pitchFamily="34" charset="-122"/>
                <a:cs typeface="Arial" pitchFamily="34" charset="-120"/>
              </a:rPr>
              <a:t>05</a:t>
            </a:r>
            <a:endParaRPr lang="en-US" sz="1300" dirty="0"/>
          </a:p>
        </p:txBody>
      </p:sp>
      <p:sp>
        <p:nvSpPr>
          <p:cNvPr id="27" name="Text 25"/>
          <p:cNvSpPr/>
          <p:nvPr/>
        </p:nvSpPr>
        <p:spPr>
          <a:xfrm>
            <a:off x="8119587" y="2621279"/>
            <a:ext cx="135040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01F"/>
                </a:solidFill>
                <a:latin typeface="Arial" pitchFamily="34" charset="0"/>
                <a:ea typeface="Arial" pitchFamily="34" charset="-122"/>
                <a:cs typeface="Arial" pitchFamily="34" charset="-120"/>
              </a:rPr>
              <a:t>Verify</a:t>
            </a:r>
            <a:endParaRPr lang="en-US" sz="1500" dirty="0"/>
          </a:p>
        </p:txBody>
      </p:sp>
      <p:sp>
        <p:nvSpPr>
          <p:cNvPr id="28" name="Text 26"/>
          <p:cNvSpPr/>
          <p:nvPr/>
        </p:nvSpPr>
        <p:spPr>
          <a:xfrm>
            <a:off x="8119587" y="2976879"/>
            <a:ext cx="1350407"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D4745"/>
                </a:solidFill>
                <a:latin typeface="Arial" pitchFamily="34" charset="0"/>
                <a:ea typeface="Arial" pitchFamily="34" charset="-122"/>
                <a:cs typeface="Arial" pitchFamily="34" charset="-120"/>
              </a:rPr>
              <a:t>Image each fraction, update margin</a:t>
            </a:r>
            <a:endParaRPr lang="en-US" sz="1300" dirty="0"/>
          </a:p>
        </p:txBody>
      </p:sp>
      <p:sp>
        <p:nvSpPr>
          <p:cNvPr id="29" name="Shape 27"/>
          <p:cNvSpPr/>
          <p:nvPr/>
        </p:nvSpPr>
        <p:spPr>
          <a:xfrm>
            <a:off x="9723993" y="2072642"/>
            <a:ext cx="1655207" cy="1725930"/>
          </a:xfrm>
          <a:prstGeom prst="roundRect">
            <a:avLst>
              <a:gd name="adj" fmla="val 4604"/>
            </a:avLst>
          </a:prstGeom>
          <a:solidFill>
            <a:srgbClr val="FFFFFF"/>
          </a:solidFill>
          <a:ln/>
        </p:spPr>
      </p:sp>
      <p:sp>
        <p:nvSpPr>
          <p:cNvPr id="30" name="Shape 28"/>
          <p:cNvSpPr/>
          <p:nvPr/>
        </p:nvSpPr>
        <p:spPr>
          <a:xfrm>
            <a:off x="9723993" y="2072642"/>
            <a:ext cx="1655207" cy="1725930"/>
          </a:xfrm>
          <a:custGeom>
            <a:avLst/>
            <a:gdLst/>
            <a:ahLst/>
            <a:cxnLst/>
            <a:rect l="l" t="t" r="r" b="b"/>
            <a:pathLst>
              <a:path w="1655207" h="1725930">
                <a:moveTo>
                  <a:pt x="0" y="76200"/>
                </a:moveTo>
                <a:lnTo>
                  <a:pt x="0" y="76200"/>
                </a:lnTo>
                <a:arcTo hR="76200" wR="76200" stAng="10800000" swAng="5400000"/>
                <a:lnTo>
                  <a:pt x="1579007" y="0"/>
                </a:lnTo>
                <a:arcTo hR="76200" wR="76200" stAng="16200000" swAng="5400000"/>
                <a:lnTo>
                  <a:pt x="1655207" y="76200"/>
                </a:lnTo>
                <a:arcTo hR="25400" wR="76200" stAng="0" swAng="-5400000"/>
                <a:lnTo>
                  <a:pt x="76200" y="50800"/>
                </a:lnTo>
                <a:arcTo hR="25400" wR="76200" stAng="16200000" swAng="-5400000"/>
                <a:close/>
              </a:path>
            </a:pathLst>
          </a:custGeom>
          <a:solidFill>
            <a:srgbClr val="B8481F"/>
          </a:solidFill>
          <a:ln/>
        </p:spPr>
      </p:sp>
      <p:sp>
        <p:nvSpPr>
          <p:cNvPr id="31" name="Text 29"/>
          <p:cNvSpPr/>
          <p:nvPr/>
        </p:nvSpPr>
        <p:spPr>
          <a:xfrm>
            <a:off x="9901793" y="2301242"/>
            <a:ext cx="135040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81F"/>
                </a:solidFill>
                <a:latin typeface="Arial" pitchFamily="34" charset="0"/>
                <a:ea typeface="Arial" pitchFamily="34" charset="-122"/>
                <a:cs typeface="Arial" pitchFamily="34" charset="-120"/>
              </a:rPr>
              <a:t>06</a:t>
            </a:r>
            <a:endParaRPr lang="en-US" sz="1300" dirty="0"/>
          </a:p>
        </p:txBody>
      </p:sp>
      <p:sp>
        <p:nvSpPr>
          <p:cNvPr id="32" name="Text 30"/>
          <p:cNvSpPr/>
          <p:nvPr/>
        </p:nvSpPr>
        <p:spPr>
          <a:xfrm>
            <a:off x="9901793" y="2621279"/>
            <a:ext cx="135040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01F"/>
                </a:solidFill>
                <a:latin typeface="Arial" pitchFamily="34" charset="0"/>
                <a:ea typeface="Arial" pitchFamily="34" charset="-122"/>
                <a:cs typeface="Arial" pitchFamily="34" charset="-120"/>
              </a:rPr>
              <a:t>Hand off</a:t>
            </a:r>
            <a:endParaRPr lang="en-US" sz="1500" dirty="0"/>
          </a:p>
        </p:txBody>
      </p:sp>
      <p:sp>
        <p:nvSpPr>
          <p:cNvPr id="33" name="Text 31"/>
          <p:cNvSpPr/>
          <p:nvPr/>
        </p:nvSpPr>
        <p:spPr>
          <a:xfrm>
            <a:off x="9901793" y="2976879"/>
            <a:ext cx="1350407"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D4745"/>
                </a:solidFill>
                <a:latin typeface="Arial" pitchFamily="34" charset="0"/>
                <a:ea typeface="Arial" pitchFamily="34" charset="-122"/>
                <a:cs typeface="Arial" pitchFamily="34" charset="-120"/>
              </a:rPr>
              <a:t>Files for BugPicker, then wells</a:t>
            </a:r>
            <a:endParaRPr lang="en-US" sz="1300" dirty="0"/>
          </a:p>
        </p:txBody>
      </p:sp>
      <p:sp>
        <p:nvSpPr>
          <p:cNvPr id="34" name="Text 32"/>
          <p:cNvSpPr/>
          <p:nvPr/>
        </p:nvSpPr>
        <p:spPr>
          <a:xfrm>
            <a:off x="812800" y="4052571"/>
            <a:ext cx="10566400" cy="708660"/>
          </a:xfrm>
          <a:prstGeom prst="roundRect">
            <a:avLst>
              <a:gd name="adj" fmla="val 14337"/>
            </a:avLst>
          </a:prstGeom>
          <a:solidFill>
            <a:srgbClr val="14201F"/>
          </a:solidFill>
          <a:ln/>
        </p:spPr>
        <p:txBody>
          <a:bodyPr wrap="square" lIns="224242" tIns="173442" rIns="224242" bIns="148042" rtlCol="0" anchor="t">
            <a:normAutofit/>
          </a:bodyPr>
          <a:lstStyle/>
          <a:p>
            <a:pPr algn="l" indent="0" marL="0">
              <a:lnSpc>
                <a:spcPts val="2380"/>
              </a:lnSpc>
              <a:buNone/>
            </a:pPr>
            <a:r>
              <a:rPr lang="en-US" sz="1700" dirty="0">
                <a:solidFill>
                  <a:srgbClr val="F6F5F0"/>
                </a:solidFill>
                <a:latin typeface="Arial" pitchFamily="34" charset="0"/>
                <a:ea typeface="Arial" pitchFamily="34" charset="-122"/>
                <a:cs typeface="Arial" pitchFamily="34" charset="-120"/>
              </a:rPr>
              <a:t>Every step is written to a hash-chained provenance log, per sample</a:t>
            </a:r>
            <a:endParaRPr lang="en-US" sz="1700" dirty="0"/>
          </a:p>
        </p:txBody>
      </p:sp>
      <p:sp>
        <p:nvSpPr>
          <p:cNvPr id="35" name="Text 33"/>
          <p:cNvSpPr/>
          <p:nvPr/>
        </p:nvSpPr>
        <p:spPr>
          <a:xfrm>
            <a:off x="812800" y="6238242"/>
            <a:ext cx="3432810"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6B7370"/>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6E56"/>
                </a:solidFill>
                <a:latin typeface="Arial" pitchFamily="34" charset="0"/>
                <a:ea typeface="Arial" pitchFamily="34" charset="-122"/>
                <a:cs typeface="Arial" pitchFamily="34" charset="-120"/>
              </a:rPr>
              <a:t>Observe</a:t>
            </a:r>
            <a:endParaRPr lang="en-US" sz="1400" dirty="0"/>
          </a:p>
        </p:txBody>
      </p:sp>
      <p:sp>
        <p:nvSpPr>
          <p:cNvPr id="3" name="Text 1"/>
          <p:cNvSpPr/>
          <p:nvPr>
            <p:ph type="title"/>
          </p:nvPr>
        </p:nvSpPr>
        <p:spPr>
          <a:xfrm>
            <a:off x="812800" y="12903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Arial" pitchFamily="34" charset="0"/>
                <a:ea typeface="Arial" pitchFamily="34" charset="-122"/>
                <a:cs typeface="Arial" pitchFamily="34" charset="-120"/>
              </a:rPr>
              <a:t>Two sizers must agree</a:t>
            </a:r>
            <a:endParaRPr lang="en-US" sz="3600" dirty="0"/>
          </a:p>
        </p:txBody>
      </p:sp>
      <p:pic>
        <p:nvPicPr>
          <p:cNvPr id="4" name="Image 0" descr="Specimens sized in millimetres by two independent methods, then compared: agreement goes to sieving, disagreement is flagged">    </p:cNvPr>
          <p:cNvPicPr>
            <a:picLocks noChangeAspect="1"/>
          </p:cNvPicPr>
          <p:nvPr/>
        </p:nvPicPr>
        <p:blipFill>
          <a:blip r:embed="rId1"/>
          <a:srcRect l="-22" r="-22" t="0" b="0"/>
          <a:stretch/>
        </p:blipFill>
        <p:spPr>
          <a:xfrm>
            <a:off x="812800" y="2021842"/>
            <a:ext cx="10566400" cy="3568700"/>
          </a:xfrm>
          <a:prstGeom prst="rect">
            <a:avLst/>
          </a:prstGeom>
        </p:spPr>
      </p:pic>
      <p:sp>
        <p:nvSpPr>
          <p:cNvPr id="5" name="Text 2"/>
          <p:cNvSpPr/>
          <p:nvPr/>
        </p:nvSpPr>
        <p:spPr>
          <a:xfrm>
            <a:off x="812800" y="6238242"/>
            <a:ext cx="3432810"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6B7370"/>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01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DCAA5"/>
                </a:solidFill>
                <a:latin typeface="Arial" pitchFamily="34" charset="0"/>
                <a:ea typeface="Arial" pitchFamily="34" charset="-122"/>
                <a:cs typeface="Arial" pitchFamily="34" charset="-120"/>
              </a:rPr>
              <a:t>Preflight</a:t>
            </a:r>
            <a:endParaRPr lang="en-US" sz="1400" dirty="0"/>
          </a:p>
        </p:txBody>
      </p:sp>
      <p:sp>
        <p:nvSpPr>
          <p:cNvPr id="3" name="Text 1"/>
          <p:cNvSpPr/>
          <p:nvPr>
            <p:ph type="title"/>
          </p:nvPr>
        </p:nvSpPr>
        <p:spPr>
          <a:xfrm>
            <a:off x="812800" y="13157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6F5F0"/>
                </a:solidFill>
                <a:latin typeface="Arial" pitchFamily="34" charset="0"/>
                <a:ea typeface="Arial" pitchFamily="34" charset="-122"/>
                <a:cs typeface="Arial" pitchFamily="34" charset="-120"/>
              </a:rPr>
              <a:t>Fail closed before hardware moves</a:t>
            </a:r>
            <a:endParaRPr lang="en-US" sz="3600" dirty="0"/>
          </a:p>
        </p:txBody>
      </p:sp>
      <p:pic>
        <p:nvPicPr>
          <p:cNvPr id="4" name="Image 0" descr="Digital twin checks four conditions; if all pass the arm moves, otherwise the plan is rejected">    </p:cNvPr>
          <p:cNvPicPr>
            <a:picLocks noChangeAspect="1"/>
          </p:cNvPicPr>
          <p:nvPr/>
        </p:nvPicPr>
        <p:blipFill>
          <a:blip r:embed="rId1"/>
          <a:srcRect l="0" r="0" t="-31" b="-31"/>
          <a:stretch/>
        </p:blipFill>
        <p:spPr>
          <a:xfrm>
            <a:off x="812800" y="2072642"/>
            <a:ext cx="10566400" cy="3175000"/>
          </a:xfrm>
          <a:prstGeom prst="rect">
            <a:avLst/>
          </a:prstGeom>
        </p:spPr>
      </p:pic>
      <p:sp>
        <p:nvSpPr>
          <p:cNvPr id="5" name="Text 2"/>
          <p:cNvSpPr/>
          <p:nvPr/>
        </p:nvSpPr>
        <p:spPr>
          <a:xfrm>
            <a:off x="812800" y="6238242"/>
            <a:ext cx="3432810"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9AA19E"/>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6E56"/>
                </a:solidFill>
                <a:latin typeface="Arial" pitchFamily="34" charset="0"/>
                <a:ea typeface="Arial" pitchFamily="34" charset="-122"/>
                <a:cs typeface="Arial" pitchFamily="34" charset="-120"/>
              </a:rPr>
              <a:t>Status</a:t>
            </a:r>
            <a:endParaRPr lang="en-US" sz="1400" dirty="0"/>
          </a:p>
        </p:txBody>
      </p:sp>
      <p:sp>
        <p:nvSpPr>
          <p:cNvPr id="3" name="Text 1"/>
          <p:cNvSpPr/>
          <p:nvPr>
            <p:ph type="title"/>
          </p:nvPr>
        </p:nvSpPr>
        <p:spPr>
          <a:xfrm>
            <a:off x="812800" y="12903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Arial" pitchFamily="34" charset="0"/>
                <a:ea typeface="Arial" pitchFamily="34" charset="-122"/>
                <a:cs typeface="Arial" pitchFamily="34" charset="-120"/>
              </a:rPr>
              <a:t>Built today, next on the bench</a:t>
            </a:r>
            <a:endParaRPr lang="en-US" sz="3600" dirty="0"/>
          </a:p>
        </p:txBody>
      </p:sp>
      <p:sp>
        <p:nvSpPr>
          <p:cNvPr id="4" name="Shape 2"/>
          <p:cNvSpPr/>
          <p:nvPr/>
        </p:nvSpPr>
        <p:spPr>
          <a:xfrm>
            <a:off x="812800" y="2021842"/>
            <a:ext cx="5207000" cy="2156460"/>
          </a:xfrm>
          <a:prstGeom prst="roundRect">
            <a:avLst>
              <a:gd name="adj" fmla="val 3534"/>
            </a:avLst>
          </a:prstGeom>
          <a:solidFill>
            <a:srgbClr val="FFFFFF"/>
          </a:solidFill>
          <a:ln/>
        </p:spPr>
      </p:sp>
      <p:sp>
        <p:nvSpPr>
          <p:cNvPr id="5" name="Shape 3"/>
          <p:cNvSpPr/>
          <p:nvPr/>
        </p:nvSpPr>
        <p:spPr>
          <a:xfrm>
            <a:off x="812800" y="2021842"/>
            <a:ext cx="5207000" cy="2156460"/>
          </a:xfrm>
          <a:custGeom>
            <a:avLst/>
            <a:gdLst/>
            <a:ahLst/>
            <a:cxnLst/>
            <a:rect l="l" t="t" r="r" b="b"/>
            <a:pathLst>
              <a:path w="5207000" h="2156460">
                <a:moveTo>
                  <a:pt x="0" y="76200"/>
                </a:moveTo>
                <a:lnTo>
                  <a:pt x="0" y="76200"/>
                </a:lnTo>
                <a:arcTo hR="76200" wR="76200" stAng="10800000" swAng="5400000"/>
                <a:lnTo>
                  <a:pt x="5130800" y="0"/>
                </a:lnTo>
                <a:arcTo hR="76200" wR="76200" stAng="16200000" swAng="5400000"/>
                <a:lnTo>
                  <a:pt x="5207000" y="76200"/>
                </a:lnTo>
                <a:arcTo hR="25400" wR="76200" stAng="0" swAng="-5400000"/>
                <a:lnTo>
                  <a:pt x="76200" y="50800"/>
                </a:lnTo>
                <a:arcTo hR="25400" wR="76200" stAng="16200000" swAng="-5400000"/>
                <a:close/>
              </a:path>
            </a:pathLst>
          </a:custGeom>
          <a:solidFill>
            <a:srgbClr val="0F6E56"/>
          </a:solidFill>
          <a:ln/>
        </p:spPr>
      </p:sp>
      <p:sp>
        <p:nvSpPr>
          <p:cNvPr id="6" name="Text 4"/>
          <p:cNvSpPr/>
          <p:nvPr/>
        </p:nvSpPr>
        <p:spPr>
          <a:xfrm>
            <a:off x="1016000" y="2275842"/>
            <a:ext cx="4944618"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F6E56"/>
                </a:solidFill>
                <a:latin typeface="Arial" pitchFamily="34" charset="0"/>
                <a:ea typeface="Arial" pitchFamily="34" charset="-122"/>
                <a:cs typeface="Arial" pitchFamily="34" charset="-120"/>
              </a:rPr>
              <a:t>Built</a:t>
            </a:r>
            <a:endParaRPr lang="en-US" sz="1700" dirty="0"/>
          </a:p>
        </p:txBody>
      </p:sp>
      <p:sp>
        <p:nvSpPr>
          <p:cNvPr id="7" name="Text 5"/>
          <p:cNvSpPr/>
          <p:nvPr/>
        </p:nvSpPr>
        <p:spPr>
          <a:xfrm>
            <a:off x="1092708" y="2654300"/>
            <a:ext cx="4860290" cy="1346200"/>
          </a:xfrm>
          <a:prstGeom prst="rect">
            <a:avLst/>
          </a:prstGeom>
          <a:noFill/>
          <a:ln/>
        </p:spPr>
        <p:txBody>
          <a:bodyPr wrap="square" lIns="0" tIns="0" rIns="0" bIns="0" rtlCol="0" anchor="t">
            <a:noAutofit/>
          </a:bodyPr>
          <a:lstStyle/>
          <a:p>
            <a:pPr algn="l" marL="177292" indent="-177292">
              <a:lnSpc>
                <a:spcPts val="2080"/>
              </a:lnSpc>
              <a:buSzPct val="100000"/>
              <a:buChar char="•"/>
            </a:pPr>
            <a:r>
              <a:rPr lang="en-US" sz="1400" dirty="0">
                <a:solidFill>
                  <a:srgbClr val="14201F"/>
                </a:solidFill>
                <a:latin typeface="Arial" pitchFamily="34" charset="0"/>
                <a:ea typeface="Arial" pitchFamily="34" charset="-122"/>
                <a:cs typeface="Arial" pitchFamily="34" charset="-120"/>
              </a:rPr>
              <a:t>Camera sizing in mm, vision at each handoff</a:t>
            </a:r>
            <a:endParaRPr lang="en-US" sz="1600" dirty="0"/>
          </a:p>
          <a:p>
            <a:pPr algn="l" marL="177292" indent="-177292">
              <a:lnSpc>
                <a:spcPts val="2080"/>
              </a:lnSpc>
              <a:buSzPct val="100000"/>
              <a:buChar char="•"/>
            </a:pPr>
            <a:r>
              <a:rPr lang="en-US" sz="1400" dirty="0">
                <a:solidFill>
                  <a:srgbClr val="14201F"/>
                </a:solidFill>
                <a:latin typeface="Arial" pitchFamily="34" charset="0"/>
                <a:ea typeface="Arial" pitchFamily="34" charset="-122"/>
                <a:cs typeface="Arial" pitchFamily="34" charset="-120"/>
              </a:rPr>
              <a:t>Sieve planner, 32 filters, aperture stage</a:t>
            </a:r>
            <a:endParaRPr lang="en-US" sz="1600" dirty="0"/>
          </a:p>
          <a:p>
            <a:pPr algn="l" marL="177292" indent="-177292">
              <a:lnSpc>
                <a:spcPts val="2080"/>
              </a:lnSpc>
              <a:buSzPct val="100000"/>
              <a:buChar char="•"/>
            </a:pPr>
            <a:r>
              <a:rPr lang="en-US" sz="1400" dirty="0">
                <a:solidFill>
                  <a:srgbClr val="14201F"/>
                </a:solidFill>
                <a:latin typeface="Arial" pitchFamily="34" charset="0"/>
                <a:ea typeface="Arial" pitchFamily="34" charset="-122"/>
                <a:cs typeface="Arial" pitchFamily="34" charset="-120"/>
              </a:rPr>
              <a:t>Digital twin preflight and labware twin</a:t>
            </a:r>
            <a:endParaRPr lang="en-US" sz="1600" dirty="0"/>
          </a:p>
          <a:p>
            <a:pPr algn="l" marL="177292" indent="-177292">
              <a:lnSpc>
                <a:spcPts val="2080"/>
              </a:lnSpc>
              <a:buSzPct val="100000"/>
              <a:buChar char="•"/>
            </a:pPr>
            <a:r>
              <a:rPr lang="en-US" sz="1400" dirty="0">
                <a:solidFill>
                  <a:srgbClr val="14201F"/>
                </a:solidFill>
                <a:latin typeface="Arial" pitchFamily="34" charset="0"/>
                <a:ea typeface="Arial" pitchFamily="34" charset="-122"/>
                <a:cs typeface="Arial" pitchFamily="34" charset="-120"/>
              </a:rPr>
              <a:t>Custody graph, Protocol Board, MCP server</a:t>
            </a:r>
            <a:endParaRPr lang="en-US" sz="1600" dirty="0"/>
          </a:p>
          <a:p>
            <a:pPr algn="l" marL="177292" indent="-177292">
              <a:lnSpc>
                <a:spcPts val="2080"/>
              </a:lnSpc>
              <a:buSzPct val="100000"/>
              <a:buChar char="•"/>
            </a:pPr>
            <a:r>
              <a:rPr lang="en-US" sz="1400" dirty="0">
                <a:solidFill>
                  <a:srgbClr val="14201F"/>
                </a:solidFill>
                <a:latin typeface="Arial" pitchFamily="34" charset="0"/>
                <a:ea typeface="Arial" pitchFamily="34" charset="-122"/>
                <a:cs typeface="Arial" pitchFamily="34" charset="-120"/>
              </a:rPr>
              <a:t>91 toys and 8 labware remixes, MIT</a:t>
            </a:r>
            <a:endParaRPr lang="en-US" sz="1600" dirty="0"/>
          </a:p>
        </p:txBody>
      </p:sp>
      <p:sp>
        <p:nvSpPr>
          <p:cNvPr id="8" name="Shape 6"/>
          <p:cNvSpPr/>
          <p:nvPr/>
        </p:nvSpPr>
        <p:spPr>
          <a:xfrm>
            <a:off x="6172200" y="2021842"/>
            <a:ext cx="5207000" cy="2156460"/>
          </a:xfrm>
          <a:prstGeom prst="roundRect">
            <a:avLst>
              <a:gd name="adj" fmla="val 3534"/>
            </a:avLst>
          </a:prstGeom>
          <a:solidFill>
            <a:srgbClr val="FFFFFF"/>
          </a:solidFill>
          <a:ln/>
        </p:spPr>
      </p:sp>
      <p:sp>
        <p:nvSpPr>
          <p:cNvPr id="9" name="Shape 7"/>
          <p:cNvSpPr/>
          <p:nvPr/>
        </p:nvSpPr>
        <p:spPr>
          <a:xfrm>
            <a:off x="6172200" y="2021842"/>
            <a:ext cx="5207000" cy="2156460"/>
          </a:xfrm>
          <a:custGeom>
            <a:avLst/>
            <a:gdLst/>
            <a:ahLst/>
            <a:cxnLst/>
            <a:rect l="l" t="t" r="r" b="b"/>
            <a:pathLst>
              <a:path w="5207000" h="2156460">
                <a:moveTo>
                  <a:pt x="0" y="76200"/>
                </a:moveTo>
                <a:lnTo>
                  <a:pt x="0" y="76200"/>
                </a:lnTo>
                <a:arcTo hR="76200" wR="76200" stAng="10800000" swAng="5400000"/>
                <a:lnTo>
                  <a:pt x="5130800" y="0"/>
                </a:lnTo>
                <a:arcTo hR="76200" wR="76200" stAng="16200000" swAng="5400000"/>
                <a:lnTo>
                  <a:pt x="5207000" y="76200"/>
                </a:lnTo>
                <a:arcTo hR="25400" wR="76200" stAng="0" swAng="-5400000"/>
                <a:lnTo>
                  <a:pt x="76200" y="50800"/>
                </a:lnTo>
                <a:arcTo hR="25400" wR="76200" stAng="16200000" swAng="-5400000"/>
                <a:close/>
              </a:path>
            </a:pathLst>
          </a:custGeom>
          <a:solidFill>
            <a:srgbClr val="B8481F"/>
          </a:solidFill>
          <a:ln/>
        </p:spPr>
      </p:sp>
      <p:sp>
        <p:nvSpPr>
          <p:cNvPr id="10" name="Text 8"/>
          <p:cNvSpPr/>
          <p:nvPr/>
        </p:nvSpPr>
        <p:spPr>
          <a:xfrm>
            <a:off x="6375400" y="2275842"/>
            <a:ext cx="4944618"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B8481F"/>
                </a:solidFill>
                <a:latin typeface="Arial" pitchFamily="34" charset="0"/>
                <a:ea typeface="Arial" pitchFamily="34" charset="-122"/>
                <a:cs typeface="Arial" pitchFamily="34" charset="-120"/>
              </a:rPr>
              <a:t>Next</a:t>
            </a:r>
            <a:endParaRPr lang="en-US" sz="1700" dirty="0"/>
          </a:p>
        </p:txBody>
      </p:sp>
      <p:sp>
        <p:nvSpPr>
          <p:cNvPr id="11" name="Text 9"/>
          <p:cNvSpPr/>
          <p:nvPr/>
        </p:nvSpPr>
        <p:spPr>
          <a:xfrm>
            <a:off x="6452108" y="2654300"/>
            <a:ext cx="4860290" cy="1082040"/>
          </a:xfrm>
          <a:prstGeom prst="rect">
            <a:avLst/>
          </a:prstGeom>
          <a:noFill/>
          <a:ln/>
        </p:spPr>
        <p:txBody>
          <a:bodyPr wrap="square" lIns="0" tIns="0" rIns="0" bIns="0" rtlCol="0" anchor="t">
            <a:noAutofit/>
          </a:bodyPr>
          <a:lstStyle/>
          <a:p>
            <a:pPr algn="l" marL="177292" indent="-177292">
              <a:lnSpc>
                <a:spcPts val="2080"/>
              </a:lnSpc>
              <a:buSzPct val="100000"/>
              <a:buChar char="•"/>
            </a:pPr>
            <a:r>
              <a:rPr lang="en-US" sz="1400" dirty="0">
                <a:solidFill>
                  <a:srgbClr val="14201F"/>
                </a:solidFill>
                <a:latin typeface="Arial" pitchFamily="34" charset="0"/>
                <a:ea typeface="Arial" pitchFamily="34" charset="-122"/>
                <a:cs typeface="Arial" pitchFamily="34" charset="-120"/>
              </a:rPr>
              <a:t>Drive the SO-101 arm and sieves</a:t>
            </a:r>
            <a:endParaRPr lang="en-US" sz="1600" dirty="0"/>
          </a:p>
          <a:p>
            <a:pPr algn="l" marL="177292" indent="-177292">
              <a:lnSpc>
                <a:spcPts val="2080"/>
              </a:lnSpc>
              <a:buSzPct val="100000"/>
              <a:buChar char="•"/>
            </a:pPr>
            <a:r>
              <a:rPr lang="en-US" sz="1400" dirty="0">
                <a:solidFill>
                  <a:srgbClr val="14201F"/>
                </a:solidFill>
                <a:latin typeface="Arial" pitchFamily="34" charset="0"/>
                <a:ea typeface="Arial" pitchFamily="34" charset="-122"/>
                <a:cs typeface="Arial" pitchFamily="34" charset="-120"/>
              </a:rPr>
              <a:t>Measure real apertures</a:t>
            </a:r>
            <a:endParaRPr lang="en-US" sz="1600" dirty="0"/>
          </a:p>
          <a:p>
            <a:pPr algn="l" marL="177292" indent="-177292">
              <a:lnSpc>
                <a:spcPts val="2080"/>
              </a:lnSpc>
              <a:buSzPct val="100000"/>
              <a:buChar char="•"/>
            </a:pPr>
            <a:r>
              <a:rPr lang="en-US" sz="1400" dirty="0">
                <a:solidFill>
                  <a:srgbClr val="14201F"/>
                </a:solidFill>
                <a:latin typeface="Arial" pitchFamily="34" charset="0"/>
                <a:ea typeface="Arial" pitchFamily="34" charset="-122"/>
                <a:cs typeface="Arial" pitchFamily="34" charset="-120"/>
              </a:rPr>
              <a:t>Close the loop on printed toys</a:t>
            </a:r>
            <a:endParaRPr lang="en-US" sz="1600" dirty="0"/>
          </a:p>
          <a:p>
            <a:pPr algn="l" marL="177292" indent="-177292">
              <a:lnSpc>
                <a:spcPts val="2080"/>
              </a:lnSpc>
              <a:buSzPct val="100000"/>
              <a:buChar char="•"/>
            </a:pPr>
            <a:r>
              <a:rPr lang="en-US" sz="1400" dirty="0">
                <a:solidFill>
                  <a:srgbClr val="14201F"/>
                </a:solidFill>
                <a:latin typeface="Arial" pitchFamily="34" charset="0"/>
                <a:ea typeface="Arial" pitchFamily="34" charset="-122"/>
                <a:cs typeface="Arial" pitchFamily="34" charset="-120"/>
              </a:rPr>
              <a:t>Collect real damage data</a:t>
            </a:r>
            <a:endParaRPr lang="en-US" sz="1600" dirty="0"/>
          </a:p>
        </p:txBody>
      </p:sp>
      <p:sp>
        <p:nvSpPr>
          <p:cNvPr id="12" name="Text 10"/>
          <p:cNvSpPr/>
          <p:nvPr/>
        </p:nvSpPr>
        <p:spPr>
          <a:xfrm>
            <a:off x="812800" y="4406900"/>
            <a:ext cx="10566400" cy="657860"/>
          </a:xfrm>
          <a:prstGeom prst="roundRect">
            <a:avLst>
              <a:gd name="adj" fmla="val 15444"/>
            </a:avLst>
          </a:prstGeom>
          <a:solidFill>
            <a:srgbClr val="14201F"/>
          </a:solidFill>
          <a:ln/>
        </p:spPr>
        <p:txBody>
          <a:bodyPr wrap="square" lIns="224242" tIns="148042" rIns="224242" bIns="122642" rtlCol="0" anchor="t">
            <a:noAutofit/>
          </a:bodyPr>
          <a:lstStyle/>
          <a:p>
            <a:pPr algn="l" indent="0" marL="0">
              <a:lnSpc>
                <a:spcPts val="2380"/>
              </a:lnSpc>
              <a:buNone/>
            </a:pPr>
            <a:r>
              <a:rPr lang="en-US" sz="1400" dirty="0">
                <a:solidFill>
                  <a:srgbClr val="F6F5F0"/>
                </a:solidFill>
                <a:latin typeface="Arial" pitchFamily="34" charset="0"/>
                <a:ea typeface="Arial" pitchFamily="34" charset="-122"/>
                <a:cs typeface="Arial" pitchFamily="34" charset="-120"/>
              </a:rPr>
              <a:t>Ask: bench time on a real BugSorter run and labelled trays to calibrate purity, plus museum partners for species-level data</a:t>
            </a:r>
            <a:endParaRPr lang="en-US" sz="1700" dirty="0"/>
          </a:p>
        </p:txBody>
      </p:sp>
      <p:sp>
        <p:nvSpPr>
          <p:cNvPr id="13" name="Text 11"/>
          <p:cNvSpPr/>
          <p:nvPr/>
        </p:nvSpPr>
        <p:spPr>
          <a:xfrm>
            <a:off x="812800" y="6238242"/>
            <a:ext cx="3432810"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6B7370"/>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81F"/>
                </a:solidFill>
                <a:latin typeface="Arial" pitchFamily="34" charset="0"/>
                <a:ea typeface="Arial" pitchFamily="34" charset="-122"/>
                <a:cs typeface="Arial" pitchFamily="34" charset="-120"/>
              </a:rPr>
              <a:t>Full lab stack</a:t>
            </a:r>
            <a:endParaRPr lang="en-US" sz="1400" dirty="0"/>
          </a:p>
        </p:txBody>
      </p:sp>
      <p:sp>
        <p:nvSpPr>
          <p:cNvPr id="3" name="Text 1"/>
          <p:cNvSpPr/>
          <p:nvPr>
            <p:ph type="title"/>
          </p:nvPr>
        </p:nvSpPr>
        <p:spPr>
          <a:xfrm>
            <a:off x="812800" y="13665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Arial" pitchFamily="34" charset="0"/>
                <a:ea typeface="Arial" pitchFamily="34" charset="-122"/>
                <a:cs typeface="Arial" pitchFamily="34" charset="-120"/>
              </a:rPr>
              <a:t>Digital to physical, one custody graph</a:t>
            </a:r>
            <a:endParaRPr lang="en-US" sz="3600" dirty="0"/>
          </a:p>
        </p:txBody>
      </p:sp>
      <p:sp>
        <p:nvSpPr>
          <p:cNvPr id="4" name="Text 2"/>
          <p:cNvSpPr/>
          <p:nvPr/>
        </p:nvSpPr>
        <p:spPr>
          <a:xfrm>
            <a:off x="854710" y="2174239"/>
            <a:ext cx="10833862" cy="1447800"/>
          </a:xfrm>
          <a:prstGeom prst="rect">
            <a:avLst/>
          </a:prstGeom>
          <a:noFill/>
          <a:ln/>
        </p:spPr>
        <p:txBody>
          <a:bodyPr wrap="square" lIns="0" tIns="0" rIns="0" bIns="0" rtlCol="0" anchor="t">
            <a:noAutofit/>
          </a:bodyPr>
          <a:lstStyle/>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Filters: 32 hole types on one 50 mm plate (16 punched, 4 bought, 12 stainless)</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Plastic is the frame, metal is the aperture: 100 mm inserts and a 316L variable-aperture stage</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Vision at each handoff: YOLOE, OWLv2, the order classifier and a local VLM (qwen2.5vl:3b)</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Local models: 2,627 crops split by source photo feed small per-taxon preprocessors</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91 printable PA12 toy insects, 1.0 to 29.9 mm, across 13 body plans</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8 MIT labware remixes with Opentrons definitions, about $8.40 of filament</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Protocol Board: pin, run, remix or contest any protocol; every card points at exact bytes</a:t>
            </a:r>
            <a:endParaRPr lang="en-US" sz="2000" dirty="0"/>
          </a:p>
        </p:txBody>
      </p:sp>
      <p:sp>
        <p:nvSpPr>
          <p:cNvPr id="5" name="Text 3"/>
          <p:cNvSpPr/>
          <p:nvPr/>
        </p:nvSpPr>
        <p:spPr>
          <a:xfrm>
            <a:off x="812800" y="6238239"/>
            <a:ext cx="1972247"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6B7370"/>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81F"/>
                </a:solidFill>
                <a:latin typeface="Arial" pitchFamily="34" charset="0"/>
                <a:ea typeface="Arial" pitchFamily="34" charset="-122"/>
                <a:cs typeface="Arial" pitchFamily="34" charset="-120"/>
              </a:rPr>
              <a:t>Chain of custody</a:t>
            </a:r>
            <a:endParaRPr lang="en-US" sz="1400" dirty="0"/>
          </a:p>
        </p:txBody>
      </p:sp>
      <p:sp>
        <p:nvSpPr>
          <p:cNvPr id="3" name="Text 1"/>
          <p:cNvSpPr/>
          <p:nvPr>
            <p:ph type="title"/>
          </p:nvPr>
        </p:nvSpPr>
        <p:spPr>
          <a:xfrm>
            <a:off x="812800" y="13665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Arial" pitchFamily="34" charset="0"/>
                <a:ea typeface="Arial" pitchFamily="34" charset="-122"/>
                <a:cs typeface="Arial" pitchFamily="34" charset="-120"/>
              </a:rPr>
              <a:t>25 breaks recorded, not hidden</a:t>
            </a:r>
            <a:endParaRPr lang="en-US" sz="3600" dirty="0"/>
          </a:p>
        </p:txBody>
      </p:sp>
      <p:sp>
        <p:nvSpPr>
          <p:cNvPr id="4" name="Text 2"/>
          <p:cNvSpPr/>
          <p:nvPr/>
        </p:nvSpPr>
        <p:spPr>
          <a:xfrm>
            <a:off x="854710" y="2174239"/>
            <a:ext cx="10833862" cy="1447800"/>
          </a:xfrm>
          <a:prstGeom prst="rect">
            <a:avLst/>
          </a:prstGeom>
          <a:noFill/>
          <a:ln/>
        </p:spPr>
        <p:txBody>
          <a:bodyPr wrap="square" lIns="0" tIns="0" rIns="0" bIns="0" rtlCol="0" anchor="t">
            <a:noAutofit/>
          </a:bodyPr>
          <a:lstStyle/>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Rule: every hash the graph references must resolve to stored bytes, otherwise it is a BREAK</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1,175 hashed leaves in one graph pack, with 7 append-only MMR logs</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8 results whose trained weights were never stored stay exploratory</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16 bench photos and 1 bench source are pinned by hash but withheld (rights not established)</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Anyone can re-hash a file in the browser and contest a leaf as a GitHub issue</a:t>
            </a:r>
            <a:endParaRPr lang="en-US" sz="2000" dirty="0"/>
          </a:p>
          <a:p>
            <a:pPr algn="l" marL="212090" indent="-212090">
              <a:lnSpc>
                <a:spcPts val="2800"/>
              </a:lnSpc>
              <a:buSzPct val="100000"/>
              <a:buChar char="•"/>
            </a:pPr>
            <a:r>
              <a:rPr lang="en-US" sz="1600" dirty="0">
                <a:solidFill>
                  <a:srgbClr val="14201F"/>
                </a:solidFill>
                <a:latin typeface="Arial" pitchFamily="34" charset="0"/>
                <a:ea typeface="Arial" pitchFamily="34" charset="-122"/>
                <a:cs typeface="Arial" pitchFamily="34" charset="-120"/>
              </a:rPr>
              <a:t>The same pack feeds the web page, CLI, MCP server and npx</a:t>
            </a:r>
            <a:endParaRPr lang="en-US" sz="2000" dirty="0"/>
          </a:p>
        </p:txBody>
      </p:sp>
      <p:sp>
        <p:nvSpPr>
          <p:cNvPr id="5" name="Text 3"/>
          <p:cNvSpPr/>
          <p:nvPr/>
        </p:nvSpPr>
        <p:spPr>
          <a:xfrm>
            <a:off x="812800" y="6238239"/>
            <a:ext cx="1972247" cy="238760"/>
          </a:xfrm>
          <a:prstGeom prst="rect">
            <a:avLst/>
          </a:prstGeom>
          <a:noFill/>
          <a:ln/>
        </p:spPr>
        <p:txBody>
          <a:bodyPr wrap="square" lIns="0" tIns="0" rIns="0" bIns="0" rtlCol="0" anchor="t">
            <a:noAutofit/>
          </a:bodyPr>
          <a:lstStyle/>
          <a:p>
            <a:pPr algn="l" indent="0" marL="0">
              <a:lnSpc>
                <a:spcPts val="1680"/>
              </a:lnSpc>
              <a:buNone/>
            </a:pPr>
            <a:r>
              <a:rPr lang="en-US" sz="1200" dirty="0">
                <a:solidFill>
                  <a:srgbClr val="6B7370"/>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812800" y="812800"/>
            <a:ext cx="10883392" cy="274320"/>
          </a:xfrm>
          <a:prstGeom prst="rect">
            <a:avLst/>
          </a:prstGeom>
          <a:noFill/>
          <a:ln/>
        </p:spPr>
        <p:txBody>
          <a:bodyPr wrap="square" lIns="0" tIns="0" rIns="0" bIns="0" rtlCol="0" anchor="t">
            <a:noAutofit/>
          </a:bodyPr>
          <a:lstStyle/>
          <a:p>
            <a:pPr algn="l" indent="0" marL="0">
              <a:lnSpc>
                <a:spcPts val="1960"/>
              </a:lnSpc>
              <a:buNone/>
            </a:pPr>
            <a:r>
              <a:rPr lang="en-US" sz="1400" b="1" dirty="0">
                <a:solidFill>
                  <a:srgbClr val="0F6E56"/>
                </a:solidFill>
                <a:latin typeface="Arial" pitchFamily="34" charset="0"/>
                <a:ea typeface="Arial" pitchFamily="34" charset="-122"/>
                <a:cs typeface="Arial" pitchFamily="34" charset="-120"/>
              </a:rPr>
              <a:t>Oct 24 to 25 · 489 commits · 31 PRs</a:t>
            </a:r>
            <a:endParaRPr lang="en-US" sz="1400" dirty="0"/>
          </a:p>
        </p:txBody>
      </p:sp>
      <p:sp>
        <p:nvSpPr>
          <p:cNvPr id="3" name="Text 1"/>
          <p:cNvSpPr/>
          <p:nvPr>
            <p:ph type="title"/>
          </p:nvPr>
        </p:nvSpPr>
        <p:spPr>
          <a:xfrm>
            <a:off x="812800" y="1290321"/>
            <a:ext cx="10883392" cy="528320"/>
          </a:xfrm>
          <a:prstGeom prst="rect">
            <a:avLst/>
          </a:prstGeom>
          <a:noFill/>
          <a:ln/>
        </p:spPr>
        <p:txBody>
          <a:bodyPr wrap="square" lIns="0" tIns="0" rIns="0" bIns="0" rtlCol="0" anchor="t">
            <a:noAutofit/>
          </a:bodyPr>
          <a:lstStyle/>
          <a:p>
            <a:pPr algn="l" indent="0" marL="0">
              <a:lnSpc>
                <a:spcPts val="3960"/>
              </a:lnSpc>
              <a:buNone/>
            </a:pPr>
            <a:r>
              <a:rPr lang="en-US" sz="3600" b="0" i="0" dirty="0">
                <a:solidFill>
                  <a:srgbClr val="14201F"/>
                </a:solidFill>
                <a:latin typeface="Arial" pitchFamily="34" charset="0"/>
                <a:ea typeface="Arial" pitchFamily="34" charset="-122"/>
                <a:cs typeface="Arial" pitchFamily="34" charset="-120"/>
              </a:rPr>
              <a:t>Built in two days: the full stack</a:t>
            </a:r>
            <a:endParaRPr lang="en-US" sz="3600" dirty="0"/>
          </a:p>
        </p:txBody>
      </p:sp>
      <p:sp>
        <p:nvSpPr>
          <p:cNvPr id="4" name="Shape 2"/>
          <p:cNvSpPr/>
          <p:nvPr/>
        </p:nvSpPr>
        <p:spPr>
          <a:xfrm>
            <a:off x="812800" y="2021842"/>
            <a:ext cx="5207000" cy="2576460"/>
          </a:xfrm>
          <a:prstGeom prst="roundRect">
            <a:avLst>
              <a:gd name="adj" fmla="val 3534"/>
            </a:avLst>
          </a:prstGeom>
          <a:solidFill>
            <a:srgbClr val="FFFFFF"/>
          </a:solidFill>
          <a:ln/>
        </p:spPr>
      </p:sp>
      <p:sp>
        <p:nvSpPr>
          <p:cNvPr id="5" name="Shape 3"/>
          <p:cNvSpPr/>
          <p:nvPr/>
        </p:nvSpPr>
        <p:spPr>
          <a:xfrm>
            <a:off x="812800" y="2021842"/>
            <a:ext cx="5207000" cy="2156460"/>
          </a:xfrm>
          <a:custGeom>
            <a:avLst/>
            <a:gdLst/>
            <a:ahLst/>
            <a:cxnLst/>
            <a:rect l="l" t="t" r="r" b="b"/>
            <a:pathLst>
              <a:path w="5207000" h="2156460">
                <a:moveTo>
                  <a:pt x="0" y="76200"/>
                </a:moveTo>
                <a:lnTo>
                  <a:pt x="0" y="76200"/>
                </a:lnTo>
                <a:arcTo hR="76200" wR="76200" stAng="10800000" swAng="5400000"/>
                <a:lnTo>
                  <a:pt x="5130800" y="0"/>
                </a:lnTo>
                <a:arcTo hR="76200" wR="76200" stAng="16200000" swAng="5400000"/>
                <a:lnTo>
                  <a:pt x="5207000" y="76200"/>
                </a:lnTo>
                <a:arcTo hR="25400" wR="76200" stAng="0" swAng="-5400000"/>
                <a:lnTo>
                  <a:pt x="76200" y="50800"/>
                </a:lnTo>
                <a:arcTo hR="25400" wR="76200" stAng="16200000" swAng="-5400000"/>
                <a:close/>
              </a:path>
            </a:pathLst>
          </a:custGeom>
          <a:solidFill>
            <a:srgbClr val="0F6E56"/>
          </a:solidFill>
          <a:ln/>
        </p:spPr>
      </p:sp>
      <p:sp>
        <p:nvSpPr>
          <p:cNvPr id="6" name="Text 4"/>
          <p:cNvSpPr/>
          <p:nvPr/>
        </p:nvSpPr>
        <p:spPr>
          <a:xfrm>
            <a:off x="1016000" y="2275842"/>
            <a:ext cx="4944618"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F6E56"/>
                </a:solidFill>
                <a:latin typeface="Arial" pitchFamily="34" charset="0"/>
                <a:ea typeface="Arial" pitchFamily="34" charset="-122"/>
                <a:cs typeface="Arial" pitchFamily="34" charset="-120"/>
              </a:rPr>
              <a:t>Physical</a:t>
            </a:r>
            <a:endParaRPr lang="en-US" sz="1700" dirty="0"/>
          </a:p>
        </p:txBody>
      </p:sp>
      <p:sp>
        <p:nvSpPr>
          <p:cNvPr id="7" name="Text 5"/>
          <p:cNvSpPr/>
          <p:nvPr/>
        </p:nvSpPr>
        <p:spPr>
          <a:xfrm>
            <a:off x="1092708" y="2654300"/>
            <a:ext cx="4860290" cy="1766200"/>
          </a:xfrm>
          <a:prstGeom prst="rect">
            <a:avLst/>
          </a:prstGeom>
          <a:noFill/>
          <a:ln/>
        </p:spPr>
        <p:txBody>
          <a:bodyPr wrap="square" lIns="0" tIns="0" rIns="0" bIns="0" rtlCol="0" anchor="t">
            <a:noAutofit/>
          </a:bodyPr>
          <a:lstStyle/>
          <a:p>
            <a:pPr algn="l" marL="177292" indent="-177292">
              <a:lnSpc>
                <a:spcPts val="2080"/>
              </a:lnSpc>
              <a:buSzPct val="100000"/>
              <a:buChar char="•"/>
            </a:pPr>
            <a:r>
              <a:rPr lang="en-US" sz="1200" dirty="0">
                <a:solidFill>
                  <a:srgbClr val="14201F"/>
                </a:solidFill>
                <a:latin typeface="Arial" pitchFamily="34" charset="0"/>
                <a:ea typeface="Arial" pitchFamily="34" charset="-122"/>
                <a:cs typeface="Arial" pitchFamily="34" charset="-120"/>
              </a:rPr>
              <a:t>91 printed bug toys to train and test models</a:t>
            </a:r>
            <a:endParaRPr lang="en-US" sz="1600" dirty="0"/>
          </a:p>
          <a:p>
            <a:pPr algn="l" marL="177292" indent="-177292">
              <a:lnSpc>
                <a:spcPts val="2080"/>
              </a:lnSpc>
              <a:buSzPct val="100000"/>
              <a:buChar char="•"/>
            </a:pPr>
            <a:r>
              <a:rPr lang="en-US" sz="1200" dirty="0">
                <a:solidFill>
                  <a:srgbClr val="14201F"/>
                </a:solidFill>
                <a:latin typeface="Arial" pitchFamily="34" charset="0"/>
                <a:ea typeface="Arial" pitchFamily="34" charset="-122"/>
                <a:cs typeface="Arial" pitchFamily="34" charset="-120"/>
              </a:rPr>
              <a:t>Models also tested on toys and food</a:t>
            </a:r>
            <a:endParaRPr lang="en-US" sz="1600" dirty="0"/>
          </a:p>
          <a:p>
            <a:pPr algn="l" marL="177292" indent="-177292">
              <a:lnSpc>
                <a:spcPts val="2080"/>
              </a:lnSpc>
              <a:buSzPct val="100000"/>
              <a:buChar char="•"/>
            </a:pPr>
            <a:r>
              <a:rPr lang="en-US" sz="1200" dirty="0">
                <a:solidFill>
                  <a:srgbClr val="14201F"/>
                </a:solidFill>
                <a:latin typeface="Arial" pitchFamily="34" charset="0"/>
                <a:ea typeface="Arial" pitchFamily="34" charset="-122"/>
                <a:cs typeface="Arial" pitchFamily="34" charset="-120"/>
              </a:rPr>
              <a:t>Wood tower built by Wei, who also ran the printer</a:t>
            </a:r>
            <a:endParaRPr lang="en-US" sz="1600" dirty="0"/>
          </a:p>
          <a:p>
            <a:pPr algn="l" marL="177292" indent="-177292">
              <a:lnSpc>
                <a:spcPts val="2080"/>
              </a:lnSpc>
              <a:buSzPct val="100000"/>
              <a:buChar char="•"/>
            </a:pPr>
            <a:r>
              <a:rPr lang="en-US" sz="1200" dirty="0">
                <a:solidFill>
                  <a:srgbClr val="14201F"/>
                </a:solidFill>
                <a:latin typeface="Arial" pitchFamily="34" charset="0"/>
                <a:ea typeface="Arial" pitchFamily="34" charset="-122"/>
                <a:cs typeface="Arial" pitchFamily="34" charset="-120"/>
              </a:rPr>
              <a:t>Repurposed metal cut to fit robot trays</a:t>
            </a:r>
            <a:endParaRPr lang="en-US" sz="1600" dirty="0"/>
          </a:p>
          <a:p>
            <a:pPr algn="l" marL="177292" indent="-177292">
              <a:lnSpc>
                <a:spcPts val="2080"/>
              </a:lnSpc>
              <a:buSzPct val="100000"/>
              <a:buChar char="•"/>
            </a:pPr>
            <a:r>
              <a:rPr lang="en-US" sz="1200" dirty="0">
                <a:solidFill>
                  <a:srgbClr val="14201F"/>
                </a:solidFill>
                <a:latin typeface="Arial" pitchFamily="34" charset="0"/>
                <a:ea typeface="Arial" pitchFamily="34" charset="-122"/>
                <a:cs typeface="Arial" pitchFamily="34" charset="-120"/>
              </a:rPr>
              <a:t>SO-101 robot arm tested (PR #24)</a:t>
            </a:r>
            <a:endParaRPr lang="en-US" sz="1600" dirty="0"/>
          </a:p>
          <a:p>
            <a:pPr algn="l" marL="177292" indent="-177292">
              <a:lnSpc>
                <a:spcPts val="2080"/>
              </a:lnSpc>
              <a:buSzPct val="100000"/>
              <a:buChar char="•"/>
            </a:pPr>
            <a:r>
              <a:rPr lang="en-US" sz="1200" dirty="0">
                <a:solidFill>
                  <a:srgbClr val="14201F"/>
                </a:solidFill>
                <a:latin typeface="Arial" pitchFamily="34" charset="0"/>
                <a:ea typeface="Arial" pitchFamily="34" charset="-122"/>
                <a:cs typeface="Arial" pitchFamily="34" charset="-120"/>
              </a:rPr>
              <a:t>Two camera lanes: Andrew and Byron</a:t>
            </a:r>
            <a:endParaRPr lang="en-US" sz="1600" dirty="0"/>
          </a:p>
        </p:txBody>
      </p:sp>
      <p:sp>
        <p:nvSpPr>
          <p:cNvPr id="8" name="Shape 6"/>
          <p:cNvSpPr/>
          <p:nvPr/>
        </p:nvSpPr>
        <p:spPr>
          <a:xfrm>
            <a:off x="6172200" y="2021842"/>
            <a:ext cx="5207000" cy="2576460"/>
          </a:xfrm>
          <a:prstGeom prst="roundRect">
            <a:avLst>
              <a:gd name="adj" fmla="val 3534"/>
            </a:avLst>
          </a:prstGeom>
          <a:solidFill>
            <a:srgbClr val="FFFFFF"/>
          </a:solidFill>
          <a:ln/>
        </p:spPr>
      </p:sp>
      <p:sp>
        <p:nvSpPr>
          <p:cNvPr id="9" name="Shape 7"/>
          <p:cNvSpPr/>
          <p:nvPr/>
        </p:nvSpPr>
        <p:spPr>
          <a:xfrm>
            <a:off x="6172200" y="2021842"/>
            <a:ext cx="5207000" cy="2156460"/>
          </a:xfrm>
          <a:custGeom>
            <a:avLst/>
            <a:gdLst/>
            <a:ahLst/>
            <a:cxnLst/>
            <a:rect l="l" t="t" r="r" b="b"/>
            <a:pathLst>
              <a:path w="5207000" h="2156460">
                <a:moveTo>
                  <a:pt x="0" y="76200"/>
                </a:moveTo>
                <a:lnTo>
                  <a:pt x="0" y="76200"/>
                </a:lnTo>
                <a:arcTo hR="76200" wR="76200" stAng="10800000" swAng="5400000"/>
                <a:lnTo>
                  <a:pt x="5130800" y="0"/>
                </a:lnTo>
                <a:arcTo hR="76200" wR="76200" stAng="16200000" swAng="5400000"/>
                <a:lnTo>
                  <a:pt x="5207000" y="76200"/>
                </a:lnTo>
                <a:arcTo hR="25400" wR="76200" stAng="0" swAng="-5400000"/>
                <a:lnTo>
                  <a:pt x="76200" y="50800"/>
                </a:lnTo>
                <a:arcTo hR="25400" wR="76200" stAng="16200000" swAng="-5400000"/>
                <a:close/>
              </a:path>
            </a:pathLst>
          </a:custGeom>
          <a:solidFill>
            <a:srgbClr val="B8481F"/>
          </a:solidFill>
          <a:ln/>
        </p:spPr>
      </p:sp>
      <p:sp>
        <p:nvSpPr>
          <p:cNvPr id="10" name="Text 8"/>
          <p:cNvSpPr/>
          <p:nvPr/>
        </p:nvSpPr>
        <p:spPr>
          <a:xfrm>
            <a:off x="6375400" y="2275842"/>
            <a:ext cx="4944618"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B8481F"/>
                </a:solidFill>
                <a:latin typeface="Arial" pitchFamily="34" charset="0"/>
                <a:ea typeface="Arial" pitchFamily="34" charset="-122"/>
                <a:cs typeface="Arial" pitchFamily="34" charset="-120"/>
              </a:rPr>
              <a:t>Digital</a:t>
            </a:r>
            <a:endParaRPr lang="en-US" sz="1700" dirty="0"/>
          </a:p>
        </p:txBody>
      </p:sp>
      <p:sp>
        <p:nvSpPr>
          <p:cNvPr id="11" name="Text 9"/>
          <p:cNvSpPr/>
          <p:nvPr/>
        </p:nvSpPr>
        <p:spPr>
          <a:xfrm>
            <a:off x="6452108" y="2654300"/>
            <a:ext cx="4860290" cy="1766200"/>
          </a:xfrm>
          <a:prstGeom prst="rect">
            <a:avLst/>
          </a:prstGeom>
          <a:noFill/>
          <a:ln/>
        </p:spPr>
        <p:txBody>
          <a:bodyPr wrap="square" lIns="0" tIns="0" rIns="0" bIns="0" rtlCol="0" anchor="t">
            <a:noAutofit/>
          </a:bodyPr>
          <a:lstStyle/>
          <a:p>
            <a:pPr algn="l" marL="177292" indent="-177292">
              <a:lnSpc>
                <a:spcPts val="2080"/>
              </a:lnSpc>
              <a:buSzPct val="100000"/>
              <a:buChar char="•"/>
            </a:pPr>
            <a:r>
              <a:rPr lang="en-US" sz="1200" dirty="0">
                <a:solidFill>
                  <a:srgbClr val="14201F"/>
                </a:solidFill>
                <a:latin typeface="Arial" pitchFamily="34" charset="0"/>
                <a:ea typeface="Arial" pitchFamily="34" charset="-122"/>
                <a:cs typeface="Arial" pitchFamily="34" charset="-120"/>
              </a:rPr>
              <a:t>MCP server, CLI, three Vercel web apps</a:t>
            </a:r>
            <a:endParaRPr lang="en-US" sz="1600" dirty="0"/>
          </a:p>
          <a:p>
            <a:pPr algn="l" marL="177292" indent="-177292">
              <a:lnSpc>
                <a:spcPts val="2080"/>
              </a:lnSpc>
              <a:buSzPct val="100000"/>
              <a:buChar char="•"/>
            </a:pPr>
            <a:r>
              <a:rPr lang="en-US" sz="1200" dirty="0">
                <a:solidFill>
                  <a:srgbClr val="14201F"/>
                </a:solidFill>
                <a:latin typeface="Arial" pitchFamily="34" charset="0"/>
                <a:ea typeface="Arial" pitchFamily="34" charset="-122"/>
                <a:cs typeface="Arial" pitchFamily="34" charset="-120"/>
              </a:rPr>
              <a:t>Trained on an M1 Mac, 3 local preprocessors</a:t>
            </a:r>
            <a:endParaRPr lang="en-US" sz="1600" dirty="0"/>
          </a:p>
          <a:p>
            <a:pPr algn="l" marL="177292" indent="-177292">
              <a:lnSpc>
                <a:spcPts val="2080"/>
              </a:lnSpc>
              <a:buSzPct val="100000"/>
              <a:buChar char="•"/>
            </a:pPr>
            <a:r>
              <a:rPr lang="en-US" sz="1200" dirty="0">
                <a:solidFill>
                  <a:srgbClr val="14201F"/>
                </a:solidFill>
                <a:latin typeface="Arial" pitchFamily="34" charset="0"/>
                <a:ea typeface="Arial" pitchFamily="34" charset="-122"/>
                <a:cs typeface="Arial" pitchFamily="34" charset="-120"/>
              </a:rPr>
              <a:t>Python packages, datasets, deep research</a:t>
            </a:r>
            <a:endParaRPr lang="en-US" sz="1600" dirty="0"/>
          </a:p>
          <a:p>
            <a:pPr algn="l" marL="177292" indent="-177292">
              <a:lnSpc>
                <a:spcPts val="2080"/>
              </a:lnSpc>
              <a:buSzPct val="100000"/>
              <a:buChar char="•"/>
            </a:pPr>
            <a:r>
              <a:rPr lang="en-US" sz="1200" dirty="0">
                <a:solidFill>
                  <a:srgbClr val="14201F"/>
                </a:solidFill>
                <a:latin typeface="Arial" pitchFamily="34" charset="0"/>
                <a:ea typeface="Arial" pitchFamily="34" charset="-122"/>
                <a:cs typeface="Arial" pitchFamily="34" charset="-120"/>
              </a:rPr>
              <a:t>Custody graph: 1,175 leaves, 25 breaks</a:t>
            </a:r>
            <a:endParaRPr lang="en-US" sz="1600" dirty="0"/>
          </a:p>
          <a:p>
            <a:pPr algn="l" marL="177292" indent="-177292">
              <a:lnSpc>
                <a:spcPts val="2080"/>
              </a:lnSpc>
              <a:buSzPct val="100000"/>
              <a:buChar char="•"/>
            </a:pPr>
            <a:r>
              <a:rPr lang="en-US" sz="1200" dirty="0">
                <a:solidFill>
                  <a:srgbClr val="14201F"/>
                </a:solidFill>
                <a:latin typeface="Arial" pitchFamily="34" charset="0"/>
                <a:ea typeface="Arial" pitchFamily="34" charset="-122"/>
                <a:cs typeface="Arial" pitchFamily="34" charset="-120"/>
              </a:rPr>
              <a:t>Protocol Board, labware twin, demo reel</a:t>
            </a:r>
            <a:endParaRPr lang="en-US" sz="1600" dirty="0"/>
          </a:p>
          <a:p>
            <a:pPr algn="l" marL="177292" indent="-177292">
              <a:lnSpc>
                <a:spcPts val="2080"/>
              </a:lnSpc>
              <a:buSzPct val="100000"/>
              <a:buChar char="•"/>
            </a:pPr>
            <a:r>
              <a:rPr lang="en-US" sz="1200" dirty="0">
                <a:solidFill>
                  <a:srgbClr val="14201F"/>
                </a:solidFill>
                <a:latin typeface="Arial" pitchFamily="34" charset="0"/>
                <a:ea typeface="Arial" pitchFamily="34" charset="-122"/>
                <a:cs typeface="Arial" pitchFamily="34" charset="-120"/>
              </a:rPr>
              <a:t>32 filters built for future runs</a:t>
            </a:r>
            <a:endParaRPr lang="en-US" sz="1600" dirty="0"/>
          </a:p>
        </p:txBody>
      </p:sp>
      <p:sp>
        <p:nvSpPr>
          <p:cNvPr id="12" name="Text 10"/>
          <p:cNvSpPr/>
          <p:nvPr/>
        </p:nvSpPr>
        <p:spPr>
          <a:xfrm>
            <a:off x="812800" y="4926900"/>
            <a:ext cx="10566400" cy="657860"/>
          </a:xfrm>
          <a:prstGeom prst="roundRect">
            <a:avLst>
              <a:gd name="adj" fmla="val 15444"/>
            </a:avLst>
          </a:prstGeom>
          <a:solidFill>
            <a:srgbClr val="14201F"/>
          </a:solidFill>
          <a:ln/>
        </p:spPr>
        <p:txBody>
          <a:bodyPr wrap="square" lIns="224242" tIns="148042" rIns="224242" bIns="122642" rtlCol="0" anchor="t">
            <a:noAutofit/>
          </a:bodyPr>
          <a:lstStyle/>
          <a:p>
            <a:pPr algn="l" indent="0" marL="0">
              <a:lnSpc>
                <a:spcPts val="2380"/>
              </a:lnSpc>
              <a:buNone/>
            </a:pPr>
            <a:r>
              <a:rPr lang="en-US" sz="1400" dirty="0">
                <a:solidFill>
                  <a:srgbClr val="F6F5F0"/>
                </a:solidFill>
                <a:latin typeface="Arial" pitchFamily="34" charset="0"/>
                <a:ea typeface="Arial" pitchFamily="34" charset="-122"/>
                <a:cs typeface="Arial" pitchFamily="34" charset="-120"/>
              </a:rPr>
              <a:t>Repo record: 275 commits on Oct 24 and 214 on Oct 25, across PRs #1 to #31</a:t>
            </a:r>
            <a:endParaRPr lang="en-US" sz="1700" dirty="0"/>
          </a:p>
        </p:txBody>
      </p:sp>
      <p:sp>
        <p:nvSpPr>
          <p:cNvPr id="13" name="Text 11"/>
          <p:cNvSpPr/>
          <p:nvPr/>
        </p:nvSpPr>
        <p:spPr>
          <a:xfrm>
            <a:off x="812800" y="6238242"/>
            <a:ext cx="34328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0"/>
                </a:solidFill>
                <a:latin typeface="Arial" pitchFamily="34" charset="0"/>
                <a:ea typeface="Arial" pitchFamily="34" charset="-122"/>
                <a:cs typeface="Arial" pitchFamily="34" charset="-120"/>
              </a:rPr>
              <a:t>BaeBugs · BioKEA Track A</a:t>
            </a:r>
            <a:endParaRPr lang="en-US" sz="1200" dirty="0"/>
          </a:p>
        </p:txBody>
      </p:sp>
    </p:spTree>
  </p:cSld>
  <p:clrMapOvr>
    <a:masterClrMapping/>
  </p:clrMapOvr>
</p:sld>
</file>

<file path=ppt/theme/theme1.xml><?xml version="1.0" encoding="utf-8"?>
<a:theme xmlns:a="http://schemas.openxmlformats.org/drawingml/2006/main" name="Automated sieving robot">
  <a:themeElements>
    <a:clrScheme name="Automated sieving robot">
      <a:dk1>
        <a:srgbClr val="14201F"/>
      </a:dk1>
      <a:lt1>
        <a:srgbClr val="F6F5F0"/>
      </a:lt1>
      <a:dk2>
        <a:srgbClr val="4D5553"/>
      </a:dk2>
      <a:lt2>
        <a:srgbClr val="DFE0DB"/>
      </a:lt2>
      <a:accent1>
        <a:srgbClr val="0F6E56"/>
      </a:accent1>
      <a:accent2>
        <a:srgbClr val="B8481F"/>
      </a:accent2>
      <a:accent3>
        <a:srgbClr val="5DCAA5"/>
      </a:accent3>
      <a:accent4>
        <a:srgbClr val="F0997B"/>
      </a:accent4>
      <a:accent5>
        <a:srgbClr val="6B7370"/>
      </a:accent5>
      <a:accent6>
        <a:srgbClr val="3D4745"/>
      </a:accent6>
      <a:hlink>
        <a:srgbClr val="0563C1"/>
      </a:hlink>
      <a:folHlink>
        <a:srgbClr val="954F72"/>
      </a:folHlink>
    </a:clrScheme>
    <a:fontScheme name="Automated sieving robo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sieving robot</dc:title>
  <dc:subject/>
  <dc:creator/>
  <cp:lastModifiedBy/>
  <cp:revision>1</cp:revision>
  <dcterms:created xsi:type="dcterms:W3CDTF">2026-10-25T21:12:19Z</dcterms:created>
  <dcterms:modified xsi:type="dcterms:W3CDTF">2026-10-25T21:12:19Z</dcterms:modified>
</cp:coreProperties>
</file>